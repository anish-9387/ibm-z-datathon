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tivation" id="{C1AA747D-1A31-C2DE-7523-5406923AEEB5}">
          <p14:sldIdLst>
            <p14:sldId id="256"/>
            <p14:sldId id="257"/>
            <p14:sldId id="258"/>
            <p14:sldId id="259"/>
          </p14:sldIdLst>
        </p14:section>
        <p14:section name="Approach" id="{A3152640-550B-9275-4111-E23BC5EF0ECB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Evidence" id="{E96A55A0-FB93-29B2-D297-C77C9D52B66F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latform and limits" id="{8552BE23-6CC2-C148-5D56-F7E527C6E635}">
          <p14:sldIdLst>
            <p14:sldId id="275"/>
            <p14:sldId id="276"/>
          </p14:sldIdLst>
        </p14:section>
        <p14:section name="Impact" id="{20372966-D470-E6AD-8CE4-36CC6E32A587}">
          <p14:sldIdLst>
            <p14:sldId id="277"/>
            <p14:sldId id="278"/>
          </p14:sldIdLst>
        </p14:section>
        <p14:section name="Close" id="{F1820E03-35AE-BBC7-D4FB-8A726C2288D9}">
          <p14:sldIdLst>
            <p14:sldId id="279"/>
          </p14:sldIdLst>
        </p14:section>
        <p14:section name="Backup" id="{C1E33F13-A718-A77F-8B9F-021D0AF2BF81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616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61616"/>
                </a:solidFill>
                <a:latin typeface="+mn-lt"/>
              </a:rPr>
              <a:t>Security overhead per request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39393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Attestation</c:v>
                </c:pt>
                <c:pt idx="1">
                  <c:v>Decrypt</c:v>
                </c:pt>
                <c:pt idx="2">
                  <c:v>Sign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3.4</c:v>
                </c:pt>
                <c:pt idx="2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FD-453E-A159-8CC50F57C0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2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25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616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61616"/>
                </a:solidFill>
                <a:latin typeface="+mn-lt"/>
              </a:rPr>
              <a:t>Batch 1 inference time (ms),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rgbClr val="C6C6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306</c:v>
                </c:pt>
                <c:pt idx="1">
                  <c:v>323</c:v>
                </c:pt>
                <c:pt idx="2">
                  <c:v>368</c:v>
                </c:pt>
                <c:pt idx="3">
                  <c:v>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AF-48DF-ACCD-A76A064803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Telum (zDNN)</c:v>
                </c:pt>
              </c:strCache>
            </c:strRef>
          </c:tx>
          <c:spPr>
            <a:solidFill>
              <a:srgbClr val="39393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</c:v>
                </c:pt>
                <c:pt idx="1">
                  <c:v>155</c:v>
                </c:pt>
                <c:pt idx="2">
                  <c:v>180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AF-48DF-ACCD-A76A064803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2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25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9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one-sentence promise. Optional: play the first 10 seconds of the film as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someone everyone can picture. Dr. Meera wants the AI; compliance says no. The numbers show why caution is 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 should leave this slide seeing one red lock. Everything we build targets that single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contract with the audience. Every result later in the talk maps to one of these three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honestly. FHE is a valid comparison point, not a strawman: it protects data in use but costs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rules, in order. Rule 1 is the gate, rule 2 is the room, rule 3 is the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guest in the middle is the only place the image exists in plaintext.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threat model. The guest code is trusted, so we keep it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hash is part of policy, so model integrity is a security property, not only an accuracy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accuracy has not been measured. This slide is for the RSNA result once the run finishes.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mechanism before the attack results. Message 3b is the one every later test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the response as part of the attack surface. The guard rejects extra fields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data before showing it, so the table that follows reads at a glance.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as eleven independent ways to break the claim, and eleven refusals. Every row is rerunnable from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show the same pipeline succeeding. Optional: play film 1:32 to 1:49 instead of a live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button, a tampered guest. This is the moment the claim becomes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obvious objection: does the protection slow the AI down? Measured on our z17, nothing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IBM Z matters: the accelerator is real and measured. Be clear that the secure guest does not use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Explanations are an extra layer. Because it runs host side, it never needs the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what is real from what is simulated before anyone else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comes from naming limits first. Each of these is already labelled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Dr. Meera: this is what changes for her hospital and for everyone around the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removes one item from the limits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single theme and the three proof points. Optional closing frame: film_frame_172s.jpg.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Q&amp;A. Point to the notebook when asked how a number was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Q&amp;A on how keys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these. Wait for the full question, repeat it, then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6F6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Team Revolution  ·  IBM Z Datathon 2026  ·  AI Secured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11064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to add title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6F6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Team Revolution  ·  IBM Z Datathon 2026  ·  AI Secured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6F6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Team Revolution  ·  IBM Z Datathon 2026  ·  AI Secured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103120"/>
            <a:ext cx="11064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8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to add title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52525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IBM Z DATATHON 2026  ·  THEME: AI SECURED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10312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Confidential Radiology AI</a:t>
            </a:r>
            <a:endParaRPr lang="en-US" sz="4800" dirty="0"/>
          </a:p>
        </p:txBody>
      </p:sp>
      <p:sp>
        <p:nvSpPr>
          <p:cNvPr id="4" name="t2"/>
          <p:cNvSpPr txBox="1"/>
          <p:nvPr/>
        </p:nvSpPr>
        <p:spPr>
          <a:xfrm>
            <a:off x="548640" y="3383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393939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 AI score on a chest X-ray, </a:t>
            </a:r>
            <a:r>
              <a:rPr lang="en-US" sz="2200" i="1" dirty="0">
                <a:solidFill>
                  <a:srgbClr val="393939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without trusting the people who run the server.</a:t>
            </a:r>
            <a:endParaRPr lang="en-US" sz="2200" dirty="0"/>
          </a:p>
        </p:txBody>
      </p:sp>
      <p:sp>
        <p:nvSpPr>
          <p:cNvPr id="5" name="b3"/>
          <p:cNvSpPr/>
          <p:nvPr/>
        </p:nvSpPr>
        <p:spPr>
          <a:xfrm>
            <a:off x="548640" y="4572000"/>
            <a:ext cx="128016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4"/>
          <p:cNvSpPr txBox="1"/>
          <p:nvPr/>
        </p:nvSpPr>
        <p:spPr>
          <a:xfrm>
            <a:off x="54864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Secure chest X-ray inference on IBM Z  ·  Team Revolution</a:t>
            </a:r>
            <a:endParaRPr lang="en-US" sz="1500" dirty="0"/>
          </a:p>
        </p:txBody>
      </p:sp>
      <p:sp>
        <p:nvSpPr>
          <p:cNvPr id="7" name="t5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Anish Mall (Team Leader)  ·  Sourav Kumar  ·  Aashi Soni  ·  Ayush Kesarwani  ·  Gobinath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Hospitals want AI to read chest X-rays but cannot let outside servers see the scans</a:t>
            </a:r>
            <a:endParaRPr lang="en-US" sz="2400" dirty="0"/>
          </a:p>
        </p:txBody>
      </p:sp>
      <p:sp>
        <p:nvSpPr>
          <p:cNvPr id="3" name="t6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MOTIVATION</a:t>
            </a:r>
            <a:endParaRPr lang="en-US" sz="1700" dirty="0"/>
          </a:p>
        </p:txBody>
      </p:sp>
      <p:sp>
        <p:nvSpPr>
          <p:cNvPr id="5" name="b7"/>
          <p:cNvSpPr/>
          <p:nvPr/>
        </p:nvSpPr>
        <p:spPr>
          <a:xfrm>
            <a:off x="548640" y="1783080"/>
            <a:ext cx="5212080" cy="2331720"/>
          </a:xfrm>
          <a:prstGeom prst="rect">
            <a:avLst/>
          </a:prstGeom>
          <a:solidFill>
            <a:schemeClr val="bg2"/>
          </a:solidFill>
          <a:ln w="12700">
            <a:solidFill>
              <a:srgbClr val="8D8D8D"/>
            </a:solidFill>
            <a:prstDash val="dash"/>
          </a:ln>
        </p:spPr>
      </p:sp>
      <p:sp>
        <p:nvSpPr>
          <p:cNvPr id="6" name="t8"/>
          <p:cNvSpPr txBox="1"/>
          <p:nvPr/>
        </p:nvSpPr>
        <p:spPr>
          <a:xfrm>
            <a:off x="822960" y="178308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kern="0" spc="200">
                <a:solidFill>
                  <a:schemeClr val="tx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 PLACEHOLDER</a:t>
            </a:r>
            <a:endParaRPr lang="en-US" sz="100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b="1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Chest X-ray or persona illustration</a:t>
            </a:r>
            <a:endParaRPr lang="en-US" sz="100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i="1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film_frame_20s.jpg or a chest X-ray image</a:t>
            </a:r>
            <a:endParaRPr lang="en-US" sz="1000" dirty="0"/>
          </a:p>
        </p:txBody>
      </p:sp>
      <p:sp>
        <p:nvSpPr>
          <p:cNvPr id="7" name="t9"/>
          <p:cNvSpPr txBox="1"/>
          <p:nvPr/>
        </p:nvSpPr>
        <p:spPr>
          <a:xfrm>
            <a:off x="548640" y="43891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Dr. Meera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head of radiology. She wants an AI second opinion, but </a:t>
            </a:r>
            <a:r>
              <a:rPr lang="en-US" sz="15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compliance blocks every outside AI service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 must read the scan.</a:t>
            </a:r>
            <a:endParaRPr lang="en-US" sz="1500" dirty="0"/>
          </a:p>
        </p:txBody>
      </p:sp>
      <p:sp>
        <p:nvSpPr>
          <p:cNvPr id="8" name="b10"/>
          <p:cNvSpPr/>
          <p:nvPr/>
        </p:nvSpPr>
        <p:spPr>
          <a:xfrm>
            <a:off x="6126480" y="1783080"/>
            <a:ext cx="5513832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11"/>
          <p:cNvSpPr txBox="1"/>
          <p:nvPr/>
        </p:nvSpPr>
        <p:spPr>
          <a:xfrm>
            <a:off x="6400800" y="2011680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&gt;240 M</a:t>
            </a:r>
            <a:endParaRPr lang="en-US" sz="4000" dirty="0"/>
          </a:p>
        </p:txBody>
      </p:sp>
      <p:sp>
        <p:nvSpPr>
          <p:cNvPr id="10" name="t12"/>
          <p:cNvSpPr txBox="1"/>
          <p:nvPr/>
        </p:nvSpPr>
        <p:spPr>
          <a:xfrm>
            <a:off x="6400800" y="2834640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people affected by US health-data breaches reported to HHS in 2024. </a:t>
            </a:r>
            <a:r>
              <a:rPr lang="en-US" sz="1400" i="1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Public figure, not ours.</a:t>
            </a:r>
            <a:endParaRPr lang="en-US" sz="1400" dirty="0"/>
          </a:p>
        </p:txBody>
      </p:sp>
      <p:sp>
        <p:nvSpPr>
          <p:cNvPr id="11" name="b13"/>
          <p:cNvSpPr/>
          <p:nvPr/>
        </p:nvSpPr>
        <p:spPr>
          <a:xfrm>
            <a:off x="6126480" y="4023360"/>
            <a:ext cx="5513832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14"/>
          <p:cNvSpPr txBox="1"/>
          <p:nvPr/>
        </p:nvSpPr>
        <p:spPr>
          <a:xfrm>
            <a:off x="6400800" y="4251960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common</a:t>
            </a:r>
            <a:endParaRPr lang="en-US" sz="3400" dirty="0"/>
          </a:p>
        </p:txBody>
      </p:sp>
      <p:sp>
        <p:nvSpPr>
          <p:cNvPr id="13" name="t15"/>
          <p:cNvSpPr txBox="1"/>
          <p:nvPr/>
        </p:nvSpPr>
        <p:spPr>
          <a:xfrm>
            <a:off x="6400800" y="5074920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imaging study worldwide is the chest X-ray, so the exposure risk applies at very large scale. </a:t>
            </a:r>
            <a:r>
              <a:rPr lang="en-US" sz="1400" i="1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Public figure.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5CFE0D-84ED-F7C0-C92E-BC9F5D274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79"/>
            <a:ext cx="5303520" cy="2372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Scans stay encrypted on disk and in transit, but the AI needs them readable in memory</a:t>
            </a:r>
            <a:endParaRPr lang="en-US" sz="2400" dirty="0"/>
          </a:p>
        </p:txBody>
      </p:sp>
      <p:sp>
        <p:nvSpPr>
          <p:cNvPr id="3" name="t16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GAP</a:t>
            </a:r>
            <a:endParaRPr lang="en-US" sz="1700" dirty="0"/>
          </a:p>
        </p:txBody>
      </p:sp>
      <p:sp>
        <p:nvSpPr>
          <p:cNvPr id="5" name="b17"/>
          <p:cNvSpPr/>
          <p:nvPr/>
        </p:nvSpPr>
        <p:spPr>
          <a:xfrm>
            <a:off x="548640" y="1783080"/>
            <a:ext cx="3200400" cy="2148840"/>
          </a:xfrm>
          <a:prstGeom prst="rect">
            <a:avLst/>
          </a:prstGeom>
          <a:solidFill>
            <a:srgbClr val="F4F4F4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18"/>
          <p:cNvSpPr txBox="1"/>
          <p:nvPr/>
        </p:nvSpPr>
        <p:spPr>
          <a:xfrm>
            <a:off x="82296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AT REST</a:t>
            </a:r>
            <a:endParaRPr lang="en-US" sz="1100" dirty="0"/>
          </a:p>
        </p:txBody>
      </p:sp>
      <p:sp>
        <p:nvSpPr>
          <p:cNvPr id="7" name="t19"/>
          <p:cNvSpPr txBox="1"/>
          <p:nvPr/>
        </p:nvSpPr>
        <p:spPr>
          <a:xfrm>
            <a:off x="82296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Encrypted</a:t>
            </a:r>
            <a:endParaRPr lang="en-US" sz="2800" dirty="0"/>
          </a:p>
        </p:txBody>
      </p:sp>
      <p:sp>
        <p:nvSpPr>
          <p:cNvPr id="8" name="t20"/>
          <p:cNvSpPr txBox="1"/>
          <p:nvPr/>
        </p:nvSpPr>
        <p:spPr>
          <a:xfrm>
            <a:off x="8229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Disk is protected</a:t>
            </a:r>
            <a:endParaRPr lang="en-US" sz="1300" dirty="0"/>
          </a:p>
        </p:txBody>
      </p:sp>
      <p:sp>
        <p:nvSpPr>
          <p:cNvPr id="9" name="b21"/>
          <p:cNvSpPr/>
          <p:nvPr/>
        </p:nvSpPr>
        <p:spPr>
          <a:xfrm>
            <a:off x="4114800" y="1783080"/>
            <a:ext cx="3200400" cy="2148840"/>
          </a:xfrm>
          <a:prstGeom prst="rect">
            <a:avLst/>
          </a:prstGeom>
          <a:solidFill>
            <a:srgbClr val="F4F4F4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22"/>
          <p:cNvSpPr txBox="1"/>
          <p:nvPr/>
        </p:nvSpPr>
        <p:spPr>
          <a:xfrm>
            <a:off x="438912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 TRANSIT</a:t>
            </a:r>
            <a:endParaRPr lang="en-US" sz="1100" dirty="0"/>
          </a:p>
        </p:txBody>
      </p:sp>
      <p:sp>
        <p:nvSpPr>
          <p:cNvPr id="11" name="t23"/>
          <p:cNvSpPr txBox="1"/>
          <p:nvPr/>
        </p:nvSpPr>
        <p:spPr>
          <a:xfrm>
            <a:off x="438912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Encrypted</a:t>
            </a:r>
            <a:endParaRPr lang="en-US" sz="2800" dirty="0"/>
          </a:p>
        </p:txBody>
      </p:sp>
      <p:sp>
        <p:nvSpPr>
          <p:cNvPr id="12" name="t24"/>
          <p:cNvSpPr txBox="1"/>
          <p:nvPr/>
        </p:nvSpPr>
        <p:spPr>
          <a:xfrm>
            <a:off x="43891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Network is protected</a:t>
            </a:r>
            <a:endParaRPr lang="en-US" sz="1300" dirty="0"/>
          </a:p>
        </p:txBody>
      </p:sp>
      <p:sp>
        <p:nvSpPr>
          <p:cNvPr id="13" name="b25"/>
          <p:cNvSpPr/>
          <p:nvPr/>
        </p:nvSpPr>
        <p:spPr>
          <a:xfrm>
            <a:off x="7680960" y="1783080"/>
            <a:ext cx="3959352" cy="2148840"/>
          </a:xfrm>
          <a:prstGeom prst="rect">
            <a:avLst/>
          </a:prstGeom>
          <a:solidFill>
            <a:srgbClr val="E0E0E0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14" name="t26"/>
          <p:cNvSpPr txBox="1"/>
          <p:nvPr/>
        </p:nvSpPr>
        <p:spPr>
          <a:xfrm>
            <a:off x="7955280" y="20116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 USE  (AI RUNNING)</a:t>
            </a:r>
            <a:endParaRPr lang="en-US" sz="1100" dirty="0"/>
          </a:p>
        </p:txBody>
      </p:sp>
      <p:sp>
        <p:nvSpPr>
          <p:cNvPr id="15" name="t27"/>
          <p:cNvSpPr txBox="1"/>
          <p:nvPr/>
        </p:nvSpPr>
        <p:spPr>
          <a:xfrm>
            <a:off x="7955280" y="2468880"/>
            <a:ext cx="3410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Plaintext</a:t>
            </a:r>
            <a:endParaRPr lang="en-US" sz="2800" dirty="0"/>
          </a:p>
        </p:txBody>
      </p:sp>
      <p:sp>
        <p:nvSpPr>
          <p:cNvPr id="16" name="t28"/>
          <p:cNvSpPr txBox="1"/>
          <p:nvPr/>
        </p:nvSpPr>
        <p:spPr>
          <a:xfrm>
            <a:off x="7955280" y="32918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Server memory holds the scan</a:t>
            </a:r>
            <a:endParaRPr lang="en-US" sz="1300" dirty="0"/>
          </a:p>
        </p:txBody>
      </p:sp>
      <p:sp>
        <p:nvSpPr>
          <p:cNvPr id="17" name="a29"/>
          <p:cNvSpPr/>
          <p:nvPr/>
        </p:nvSpPr>
        <p:spPr>
          <a:xfrm>
            <a:off x="3749040" y="2834640"/>
            <a:ext cx="365760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8" name="a30"/>
          <p:cNvSpPr/>
          <p:nvPr/>
        </p:nvSpPr>
        <p:spPr>
          <a:xfrm>
            <a:off x="7315200" y="2834640"/>
            <a:ext cx="365760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9" name="t31"/>
          <p:cNvSpPr txBox="1"/>
          <p:nvPr/>
        </p:nvSpPr>
        <p:spPr>
          <a:xfrm>
            <a:off x="548640" y="4251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Whoever controls the server can read the scan </a:t>
            </a: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 that moment</a:t>
            </a: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the scan may carry </a:t>
            </a:r>
            <a:r>
              <a:rPr lang="en-US" sz="16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burned-in names and dates</a:t>
            </a: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b32"/>
          <p:cNvSpPr/>
          <p:nvPr/>
        </p:nvSpPr>
        <p:spPr>
          <a:xfrm>
            <a:off x="548640" y="5074920"/>
            <a:ext cx="35661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33"/>
          <p:cNvSpPr txBox="1"/>
          <p:nvPr/>
        </p:nvSpPr>
        <p:spPr>
          <a:xfrm>
            <a:off x="548640" y="5074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22" name="b34"/>
          <p:cNvSpPr/>
          <p:nvPr/>
        </p:nvSpPr>
        <p:spPr>
          <a:xfrm>
            <a:off x="4297680" y="5074920"/>
            <a:ext cx="35661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35"/>
          <p:cNvSpPr txBox="1"/>
          <p:nvPr/>
        </p:nvSpPr>
        <p:spPr>
          <a:xfrm>
            <a:off x="4297680" y="5074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Compromised host</a:t>
            </a:r>
            <a:endParaRPr lang="en-US" sz="1500" dirty="0"/>
          </a:p>
        </p:txBody>
      </p:sp>
      <p:sp>
        <p:nvSpPr>
          <p:cNvPr id="24" name="b36"/>
          <p:cNvSpPr/>
          <p:nvPr/>
        </p:nvSpPr>
        <p:spPr>
          <a:xfrm>
            <a:off x="8046720" y="5074920"/>
            <a:ext cx="35661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37"/>
          <p:cNvSpPr txBox="1"/>
          <p:nvPr/>
        </p:nvSpPr>
        <p:spPr>
          <a:xfrm>
            <a:off x="8046720" y="5074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Memory dump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Our question: can a hospital get an AI score without trusting whoever runs the server?</a:t>
            </a:r>
            <a:endParaRPr lang="en-US" sz="2400" dirty="0"/>
          </a:p>
        </p:txBody>
      </p:sp>
      <p:sp>
        <p:nvSpPr>
          <p:cNvPr id="3" name="t38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QUESTION</a:t>
            </a:r>
            <a:endParaRPr lang="en-US" sz="1700" dirty="0"/>
          </a:p>
        </p:txBody>
      </p:sp>
      <p:sp>
        <p:nvSpPr>
          <p:cNvPr id="5" name="t39"/>
          <p:cNvSpPr txBox="1"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Hypothesis.</a:t>
            </a: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If the image is readable in </a:t>
            </a:r>
            <a:r>
              <a:rPr lang="en-US" sz="16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 one verified place</a:t>
            </a: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then all three outcomes below should hold.</a:t>
            </a:r>
            <a:endParaRPr lang="en-US" sz="1600" dirty="0"/>
          </a:p>
        </p:txBody>
      </p:sp>
      <p:sp>
        <p:nvSpPr>
          <p:cNvPr id="6" name="b40"/>
          <p:cNvSpPr/>
          <p:nvPr/>
        </p:nvSpPr>
        <p:spPr>
          <a:xfrm>
            <a:off x="548640" y="2743200"/>
            <a:ext cx="35661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41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42"/>
          <p:cNvSpPr txBox="1"/>
          <p:nvPr/>
        </p:nvSpPr>
        <p:spPr>
          <a:xfrm>
            <a:off x="150876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Tampering is refused</a:t>
            </a:r>
            <a:endParaRPr lang="en-US" sz="1500" dirty="0"/>
          </a:p>
        </p:txBody>
      </p:sp>
      <p:sp>
        <p:nvSpPr>
          <p:cNvPr id="9" name="t43"/>
          <p:cNvSpPr txBox="1"/>
          <p:nvPr/>
        </p:nvSpPr>
        <p:spPr>
          <a:xfrm>
            <a:off x="822960" y="37490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Any changed code, model, or data gets no key.</a:t>
            </a:r>
            <a:endParaRPr lang="en-US" sz="1500" dirty="0"/>
          </a:p>
        </p:txBody>
      </p:sp>
      <p:sp>
        <p:nvSpPr>
          <p:cNvPr id="10" name="t44"/>
          <p:cNvSpPr txBox="1"/>
          <p:nvPr/>
        </p:nvSpPr>
        <p:spPr>
          <a:xfrm>
            <a:off x="82296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Evidence: 11 of 11 attacks refused (§5)</a:t>
            </a:r>
            <a:endParaRPr lang="en-US" sz="1200" dirty="0"/>
          </a:p>
        </p:txBody>
      </p:sp>
      <p:sp>
        <p:nvSpPr>
          <p:cNvPr id="11" name="b45"/>
          <p:cNvSpPr/>
          <p:nvPr/>
        </p:nvSpPr>
        <p:spPr>
          <a:xfrm>
            <a:off x="4297680" y="2743200"/>
            <a:ext cx="35661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46"/>
          <p:cNvSpPr/>
          <p:nvPr/>
        </p:nvSpPr>
        <p:spPr>
          <a:xfrm>
            <a:off x="4572000" y="3017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47"/>
          <p:cNvSpPr txBox="1"/>
          <p:nvPr/>
        </p:nvSpPr>
        <p:spPr>
          <a:xfrm>
            <a:off x="525780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math is unchanged</a:t>
            </a:r>
            <a:endParaRPr lang="en-US" sz="1500" dirty="0"/>
          </a:p>
        </p:txBody>
      </p:sp>
      <p:sp>
        <p:nvSpPr>
          <p:cNvPr id="14" name="t48"/>
          <p:cNvSpPr txBox="1"/>
          <p:nvPr/>
        </p:nvSpPr>
        <p:spPr>
          <a:xfrm>
            <a:off x="4572000" y="37490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Secure and plain paths agree on the score.</a:t>
            </a:r>
            <a:endParaRPr lang="en-US" sz="1500" dirty="0"/>
          </a:p>
        </p:txBody>
      </p:sp>
      <p:sp>
        <p:nvSpPr>
          <p:cNvPr id="15" name="t49"/>
          <p:cNvSpPr txBox="1"/>
          <p:nvPr/>
        </p:nvSpPr>
        <p:spPr>
          <a:xfrm>
            <a:off x="457200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Evidence: Δ 0.0000, max 1.55e-5 (§6)</a:t>
            </a:r>
            <a:endParaRPr lang="en-US" sz="1200" dirty="0"/>
          </a:p>
        </p:txBody>
      </p:sp>
      <p:sp>
        <p:nvSpPr>
          <p:cNvPr id="16" name="b50"/>
          <p:cNvSpPr/>
          <p:nvPr/>
        </p:nvSpPr>
        <p:spPr>
          <a:xfrm>
            <a:off x="8046720" y="2743200"/>
            <a:ext cx="35661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d51"/>
          <p:cNvSpPr/>
          <p:nvPr/>
        </p:nvSpPr>
        <p:spPr>
          <a:xfrm>
            <a:off x="8321040" y="3017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52"/>
          <p:cNvSpPr txBox="1"/>
          <p:nvPr/>
        </p:nvSpPr>
        <p:spPr>
          <a:xfrm>
            <a:off x="900684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 extra leaks</a:t>
            </a:r>
            <a:endParaRPr lang="en-US" sz="1500" dirty="0"/>
          </a:p>
        </p:txBody>
      </p:sp>
      <p:sp>
        <p:nvSpPr>
          <p:cNvPr id="19" name="t53"/>
          <p:cNvSpPr txBox="1"/>
          <p:nvPr/>
        </p:nvSpPr>
        <p:spPr>
          <a:xfrm>
            <a:off x="8321040" y="37490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Only five signed fields leave the guest.</a:t>
            </a:r>
            <a:endParaRPr lang="en-US" sz="1500" dirty="0"/>
          </a:p>
        </p:txBody>
      </p:sp>
      <p:sp>
        <p:nvSpPr>
          <p:cNvPr id="20" name="t54"/>
          <p:cNvSpPr txBox="1"/>
          <p:nvPr/>
        </p:nvSpPr>
        <p:spPr>
          <a:xfrm>
            <a:off x="832104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Evidence: schema crai.result.v1 (§4)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Existing options either leave the gap open or cost far more time</a:t>
            </a:r>
            <a:endParaRPr lang="en-US" sz="2400" dirty="0"/>
          </a:p>
        </p:txBody>
      </p:sp>
      <p:sp>
        <p:nvSpPr>
          <p:cNvPr id="3" name="t55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LANDSCAPE</a:t>
            </a:r>
            <a:endParaRPr lang="en-US" sz="1700" dirty="0"/>
          </a:p>
        </p:txBody>
      </p:sp>
      <p:graphicFrame>
        <p:nvGraphicFramePr>
          <p:cNvPr id="6" name="tbl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657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Approach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Protects data in use?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Time or effort cost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Where trust sits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Disk + TLS encryption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No. Decrypts in server memory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None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Server operator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Homomorphic encryption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About 88 to 92 s per image (published), vs milliseconds in the clear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Mathematics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Typical confidential-compute demo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Input only; the output often shows the X-ray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Low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Hardware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Our pipeline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Yes, inside a verified guest (isolation simulated here)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About 23 ms security overhead, measured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Hardware policy + hospital key broker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57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Published FHE figure is for full forward passes; ours is measured on a z17.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Our idea: the image is readable in exactly one place</a:t>
            </a:r>
            <a:endParaRPr lang="en-US" sz="2400" dirty="0"/>
          </a:p>
        </p:txBody>
      </p:sp>
      <p:sp>
        <p:nvSpPr>
          <p:cNvPr id="3" name="t58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IDEA</a:t>
            </a:r>
            <a:endParaRPr lang="en-US" sz="1700" dirty="0"/>
          </a:p>
        </p:txBody>
      </p:sp>
      <p:sp>
        <p:nvSpPr>
          <p:cNvPr id="5" name="b59"/>
          <p:cNvSpPr/>
          <p:nvPr/>
        </p:nvSpPr>
        <p:spPr>
          <a:xfrm>
            <a:off x="548640" y="1783080"/>
            <a:ext cx="3566160" cy="3154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60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61"/>
          <p:cNvSpPr txBox="1"/>
          <p:nvPr/>
        </p:nvSpPr>
        <p:spPr>
          <a:xfrm>
            <a:off x="15087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 before unlocking</a:t>
            </a:r>
            <a:endParaRPr lang="en-US" sz="1500" dirty="0"/>
          </a:p>
        </p:txBody>
      </p:sp>
      <p:sp>
        <p:nvSpPr>
          <p:cNvPr id="8" name="t62"/>
          <p:cNvSpPr txBox="1"/>
          <p:nvPr/>
        </p:nvSpPr>
        <p:spPr>
          <a:xfrm>
            <a:off x="822960" y="27889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key is released only to a guest whose </a:t>
            </a:r>
            <a:r>
              <a:rPr lang="en-US" sz="1500" i="1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code and model hashes</a:t>
            </a: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match policy.</a:t>
            </a:r>
            <a:endParaRPr lang="en-US" sz="1500" dirty="0"/>
          </a:p>
        </p:txBody>
      </p:sp>
      <p:sp>
        <p:nvSpPr>
          <p:cNvPr id="9" name="b63"/>
          <p:cNvSpPr/>
          <p:nvPr/>
        </p:nvSpPr>
        <p:spPr>
          <a:xfrm>
            <a:off x="4297680" y="1783080"/>
            <a:ext cx="3566160" cy="3154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64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65"/>
          <p:cNvSpPr txBox="1"/>
          <p:nvPr/>
        </p:nvSpPr>
        <p:spPr>
          <a:xfrm>
            <a:off x="525780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 inside only</a:t>
            </a:r>
            <a:endParaRPr lang="en-US" sz="1500" dirty="0"/>
          </a:p>
        </p:txBody>
      </p:sp>
      <p:sp>
        <p:nvSpPr>
          <p:cNvPr id="12" name="t66"/>
          <p:cNvSpPr txBox="1"/>
          <p:nvPr/>
        </p:nvSpPr>
        <p:spPr>
          <a:xfrm>
            <a:off x="4572000" y="27889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Decrypt, score, and wipe, </a:t>
            </a:r>
            <a:r>
              <a:rPr lang="en-US" sz="1500" b="1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all inside that guest</a:t>
            </a: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b67"/>
          <p:cNvSpPr/>
          <p:nvPr/>
        </p:nvSpPr>
        <p:spPr>
          <a:xfrm>
            <a:off x="8046720" y="1783080"/>
            <a:ext cx="3566160" cy="3154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68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69"/>
          <p:cNvSpPr txBox="1"/>
          <p:nvPr/>
        </p:nvSpPr>
        <p:spPr>
          <a:xfrm>
            <a:off x="90068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Return a minimal, signed answer</a:t>
            </a:r>
            <a:endParaRPr lang="en-US" sz="1500" dirty="0"/>
          </a:p>
        </p:txBody>
      </p:sp>
      <p:sp>
        <p:nvSpPr>
          <p:cNvPr id="16" name="t70"/>
          <p:cNvSpPr txBox="1"/>
          <p:nvPr/>
        </p:nvSpPr>
        <p:spPr>
          <a:xfrm>
            <a:off x="8321040" y="27889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Five fields. No image, no patient id, no heatmap.</a:t>
            </a:r>
            <a:endParaRPr lang="en-US" sz="1500" dirty="0"/>
          </a:p>
        </p:txBody>
      </p:sp>
      <p:sp>
        <p:nvSpPr>
          <p:cNvPr id="17" name="b71"/>
          <p:cNvSpPr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72"/>
          <p:cNvSpPr txBox="1"/>
          <p:nvPr/>
        </p:nvSpPr>
        <p:spPr>
          <a:xfrm>
            <a:off x="822960" y="5212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Pattern:</a:t>
            </a: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IBM Secure Execution</a:t>
            </a: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+ attestation-gated key release (Confidential Containers / Trustee). </a:t>
            </a:r>
            <a:r>
              <a:rPr lang="en-US" sz="13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Hybrid AI:</a:t>
            </a: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ResNet-50 features, a calibrated head, and </a:t>
            </a:r>
            <a:r>
              <a:rPr lang="en-US" sz="13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IBM Granite</a:t>
            </a: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explanations.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One study passes four checkpoints before any pixel is read</a:t>
            </a:r>
            <a:endParaRPr lang="en-US" sz="2400" dirty="0"/>
          </a:p>
        </p:txBody>
      </p:sp>
      <p:sp>
        <p:nvSpPr>
          <p:cNvPr id="3" name="t73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5" name="b74"/>
          <p:cNvSpPr/>
          <p:nvPr/>
        </p:nvSpPr>
        <p:spPr>
          <a:xfrm>
            <a:off x="548640" y="1783080"/>
            <a:ext cx="196596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75"/>
          <p:cNvSpPr txBox="1"/>
          <p:nvPr/>
        </p:nvSpPr>
        <p:spPr>
          <a:xfrm>
            <a:off x="731520" y="19659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PACS vault</a:t>
            </a:r>
            <a:endParaRPr lang="en-US" sz="1500" dirty="0"/>
          </a:p>
        </p:txBody>
      </p:sp>
      <p:sp>
        <p:nvSpPr>
          <p:cNvPr id="7" name="t76"/>
          <p:cNvSpPr txBox="1"/>
          <p:nvPr/>
        </p:nvSpPr>
        <p:spPr>
          <a:xfrm>
            <a:off x="731520" y="27889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Ciphertext only. AES-256-GCM, per-study key, study id as AAD.</a:t>
            </a:r>
            <a:endParaRPr lang="en-US" sz="1200" dirty="0"/>
          </a:p>
        </p:txBody>
      </p:sp>
      <p:sp>
        <p:nvSpPr>
          <p:cNvPr id="8" name="a77"/>
          <p:cNvSpPr/>
          <p:nvPr/>
        </p:nvSpPr>
        <p:spPr>
          <a:xfrm>
            <a:off x="2514600" y="3108960"/>
            <a:ext cx="310896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9" name="b78"/>
          <p:cNvSpPr/>
          <p:nvPr/>
        </p:nvSpPr>
        <p:spPr>
          <a:xfrm>
            <a:off x="2825496" y="1783080"/>
            <a:ext cx="196596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79"/>
          <p:cNvSpPr txBox="1"/>
          <p:nvPr/>
        </p:nvSpPr>
        <p:spPr>
          <a:xfrm>
            <a:off x="3008376" y="19659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broker + attestation</a:t>
            </a:r>
            <a:endParaRPr lang="en-US" sz="1500" dirty="0"/>
          </a:p>
        </p:txBody>
      </p:sp>
      <p:sp>
        <p:nvSpPr>
          <p:cNvPr id="11" name="t80"/>
          <p:cNvSpPr txBox="1"/>
          <p:nvPr/>
        </p:nvSpPr>
        <p:spPr>
          <a:xfrm>
            <a:off x="3008376" y="27889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Holds the KEK, nonce, policy.json, issues a 60 s token.</a:t>
            </a:r>
            <a:endParaRPr lang="en-US" sz="1200" dirty="0"/>
          </a:p>
        </p:txBody>
      </p:sp>
      <p:sp>
        <p:nvSpPr>
          <p:cNvPr id="12" name="a81"/>
          <p:cNvSpPr/>
          <p:nvPr/>
        </p:nvSpPr>
        <p:spPr>
          <a:xfrm>
            <a:off x="4791456" y="3108960"/>
            <a:ext cx="310896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3" name="b82"/>
          <p:cNvSpPr/>
          <p:nvPr/>
        </p:nvSpPr>
        <p:spPr>
          <a:xfrm>
            <a:off x="5102352" y="1783080"/>
            <a:ext cx="1965960" cy="269748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83"/>
          <p:cNvSpPr txBox="1"/>
          <p:nvPr/>
        </p:nvSpPr>
        <p:spPr>
          <a:xfrm>
            <a:off x="5285232" y="19659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Trusted guest</a:t>
            </a:r>
            <a:endParaRPr lang="en-US" sz="1500" dirty="0"/>
          </a:p>
        </p:txBody>
      </p:sp>
      <p:sp>
        <p:nvSpPr>
          <p:cNvPr id="15" name="t84"/>
          <p:cNvSpPr txBox="1"/>
          <p:nvPr/>
        </p:nvSpPr>
        <p:spPr>
          <a:xfrm>
            <a:off x="5285232" y="27889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Hashes itself and the model. Decrypt, ResNet-50, wipe.</a:t>
            </a:r>
            <a:endParaRPr lang="en-US" sz="1200" dirty="0"/>
          </a:p>
        </p:txBody>
      </p:sp>
      <p:sp>
        <p:nvSpPr>
          <p:cNvPr id="16" name="a85"/>
          <p:cNvSpPr/>
          <p:nvPr/>
        </p:nvSpPr>
        <p:spPr>
          <a:xfrm>
            <a:off x="7068312" y="3108960"/>
            <a:ext cx="310896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7" name="b86"/>
          <p:cNvSpPr/>
          <p:nvPr/>
        </p:nvSpPr>
        <p:spPr>
          <a:xfrm>
            <a:off x="7379208" y="1783080"/>
            <a:ext cx="196596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87"/>
          <p:cNvSpPr txBox="1"/>
          <p:nvPr/>
        </p:nvSpPr>
        <p:spPr>
          <a:xfrm>
            <a:off x="7562088" y="19659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Signed result</a:t>
            </a:r>
            <a:endParaRPr lang="en-US" sz="1500" dirty="0"/>
          </a:p>
        </p:txBody>
      </p:sp>
      <p:sp>
        <p:nvSpPr>
          <p:cNvPr id="19" name="t88"/>
          <p:cNvSpPr txBox="1"/>
          <p:nvPr/>
        </p:nvSpPr>
        <p:spPr>
          <a:xfrm>
            <a:off x="7562088" y="27889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Five fields, signed with a key the token approved.</a:t>
            </a:r>
            <a:endParaRPr lang="en-US" sz="1200" dirty="0"/>
          </a:p>
        </p:txBody>
      </p:sp>
      <p:sp>
        <p:nvSpPr>
          <p:cNvPr id="20" name="a89"/>
          <p:cNvSpPr/>
          <p:nvPr/>
        </p:nvSpPr>
        <p:spPr>
          <a:xfrm>
            <a:off x="9345168" y="3108960"/>
            <a:ext cx="310896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21" name="b90"/>
          <p:cNvSpPr/>
          <p:nvPr/>
        </p:nvSpPr>
        <p:spPr>
          <a:xfrm>
            <a:off x="9656064" y="1783080"/>
            <a:ext cx="196596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91"/>
          <p:cNvSpPr txBox="1"/>
          <p:nvPr/>
        </p:nvSpPr>
        <p:spPr>
          <a:xfrm>
            <a:off x="9838944" y="19659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PACS verifies</a:t>
            </a:r>
            <a:endParaRPr lang="en-US" sz="1500" dirty="0"/>
          </a:p>
        </p:txBody>
      </p:sp>
      <p:sp>
        <p:nvSpPr>
          <p:cNvPr id="23" name="t92"/>
          <p:cNvSpPr txBox="1"/>
          <p:nvPr/>
        </p:nvSpPr>
        <p:spPr>
          <a:xfrm>
            <a:off x="9838944" y="27889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Checks token and signature.</a:t>
            </a:r>
            <a:endParaRPr lang="en-US" sz="1200" dirty="0"/>
          </a:p>
        </p:txBody>
      </p:sp>
      <p:sp>
        <p:nvSpPr>
          <p:cNvPr id="24" name="b93"/>
          <p:cNvSpPr/>
          <p:nvPr/>
        </p:nvSpPr>
        <p:spPr>
          <a:xfrm>
            <a:off x="548640" y="4800600"/>
            <a:ext cx="2651760" cy="777240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5" name="t94"/>
          <p:cNvSpPr txBox="1"/>
          <p:nvPr/>
        </p:nvSpPr>
        <p:spPr>
          <a:xfrm>
            <a:off x="548640" y="4800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guest_image_hash a88f10a1…</a:t>
            </a:r>
            <a:endParaRPr lang="en-US" sz="1200" dirty="0"/>
          </a:p>
        </p:txBody>
      </p:sp>
      <p:sp>
        <p:nvSpPr>
          <p:cNvPr id="26" name="b95"/>
          <p:cNvSpPr/>
          <p:nvPr/>
        </p:nvSpPr>
        <p:spPr>
          <a:xfrm>
            <a:off x="3355848" y="4800600"/>
            <a:ext cx="2651760" cy="777240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7" name="t96"/>
          <p:cNvSpPr txBox="1"/>
          <p:nvPr/>
        </p:nvSpPr>
        <p:spPr>
          <a:xfrm>
            <a:off x="3355848" y="4800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model_hash c64992e8…</a:t>
            </a:r>
            <a:endParaRPr lang="en-US" sz="1200" dirty="0"/>
          </a:p>
        </p:txBody>
      </p:sp>
      <p:sp>
        <p:nvSpPr>
          <p:cNvPr id="28" name="b97"/>
          <p:cNvSpPr/>
          <p:nvPr/>
        </p:nvSpPr>
        <p:spPr>
          <a:xfrm>
            <a:off x="6163056" y="4800600"/>
            <a:ext cx="2651760" cy="777240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9" name="t98"/>
          <p:cNvSpPr txBox="1"/>
          <p:nvPr/>
        </p:nvSpPr>
        <p:spPr>
          <a:xfrm>
            <a:off x="6163056" y="4800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token expires in 60 s</a:t>
            </a:r>
            <a:endParaRPr lang="en-US" sz="1200" dirty="0"/>
          </a:p>
        </p:txBody>
      </p:sp>
      <p:sp>
        <p:nvSpPr>
          <p:cNvPr id="30" name="b99"/>
          <p:cNvSpPr/>
          <p:nvPr/>
        </p:nvSpPr>
        <p:spPr>
          <a:xfrm>
            <a:off x="8970264" y="4800600"/>
            <a:ext cx="2651760" cy="777240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1" name="t100"/>
          <p:cNvSpPr txBox="1"/>
          <p:nvPr/>
        </p:nvSpPr>
        <p:spPr>
          <a:xfrm>
            <a:off x="8970264" y="4800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key wrapped to this guest only</a:t>
            </a:r>
            <a:endParaRPr lang="en-US" sz="1200" dirty="0"/>
          </a:p>
        </p:txBody>
      </p:sp>
      <p:sp>
        <p:nvSpPr>
          <p:cNvPr id="32" name="t101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Reference: notebook §1 to §3 · crai/pipeline.py</a:t>
            </a:r>
            <a:endParaRPr lang="en-US" sz="1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Only the verified guest ever sees pixels; everyone else sees ciphertext or hashes</a:t>
            </a:r>
            <a:endParaRPr lang="en-US" sz="2400" dirty="0"/>
          </a:p>
        </p:txBody>
      </p:sp>
      <p:sp>
        <p:nvSpPr>
          <p:cNvPr id="3" name="t102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BOUNDARIES</a:t>
            </a:r>
            <a:endParaRPr lang="en-US" sz="1700" dirty="0"/>
          </a:p>
        </p:txBody>
      </p:sp>
      <p:graphicFrame>
        <p:nvGraphicFramePr>
          <p:cNvPr id="9" name="tbl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15200" cy="4114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Actor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Sees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Never sees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Host / administrator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Ciphertext, sizes, timing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Pixels, keys, results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Attestation broker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Guest evidence, policy hashes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Any image content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Trusted guest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Plaintext study, only here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Other studies after wipe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PACS / hospital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Signed probability + hashes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Pixels, patient ids, heatmaps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Network observer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Encrypted traffic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Plaintext of any kind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104"/>
          <p:cNvSpPr/>
          <p:nvPr/>
        </p:nvSpPr>
        <p:spPr>
          <a:xfrm>
            <a:off x="8229600" y="1783080"/>
            <a:ext cx="3410712" cy="4114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105"/>
          <p:cNvSpPr txBox="1"/>
          <p:nvPr/>
        </p:nvSpPr>
        <p:spPr>
          <a:xfrm>
            <a:off x="850392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tx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TRUSTED COMPUTING BASE</a:t>
            </a:r>
            <a:endParaRPr lang="en-US" sz="1100" dirty="0"/>
          </a:p>
        </p:txBody>
      </p:sp>
      <p:sp>
        <p:nvSpPr>
          <p:cNvPr id="8" name="l106"/>
          <p:cNvSpPr txBox="1"/>
          <p:nvPr/>
        </p:nvSpPr>
        <p:spPr>
          <a:xfrm>
            <a:off x="8503920" y="2514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 guest image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</a:t>
            </a: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hash-pinned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model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Outbound connections blocked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response checked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exists only after attestation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 frozen, hash-pinned ResNet-50 means swapping the model withholds the key</a:t>
            </a:r>
            <a:endParaRPr lang="en-US" sz="2400" dirty="0"/>
          </a:p>
        </p:txBody>
      </p:sp>
      <p:sp>
        <p:nvSpPr>
          <p:cNvPr id="3" name="t107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MODEL</a:t>
            </a:r>
            <a:endParaRPr lang="en-US" sz="1700" dirty="0"/>
          </a:p>
        </p:txBody>
      </p:sp>
      <p:sp>
        <p:nvSpPr>
          <p:cNvPr id="5" name="b108"/>
          <p:cNvSpPr/>
          <p:nvPr/>
        </p:nvSpPr>
        <p:spPr>
          <a:xfrm>
            <a:off x="548640" y="1783080"/>
            <a:ext cx="61264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109"/>
          <p:cNvSpPr/>
          <p:nvPr/>
        </p:nvSpPr>
        <p:spPr>
          <a:xfrm>
            <a:off x="822960" y="20848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110"/>
          <p:cNvSpPr txBox="1"/>
          <p:nvPr/>
        </p:nvSpPr>
        <p:spPr>
          <a:xfrm>
            <a:off x="16002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TorchXRayVision backbone</a:t>
            </a:r>
            <a:endParaRPr lang="en-US" sz="1500" dirty="0"/>
          </a:p>
        </p:txBody>
      </p:sp>
      <p:sp>
        <p:nvSpPr>
          <p:cNvPr id="8" name="t111"/>
          <p:cNvSpPr txBox="1"/>
          <p:nvPr/>
        </p:nvSpPr>
        <p:spPr>
          <a:xfrm>
            <a:off x="1600200" y="24048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resnet50-res512-all, loaded big-endian on s390x</a:t>
            </a:r>
            <a:endParaRPr lang="en-US" sz="1200" dirty="0"/>
          </a:p>
        </p:txBody>
      </p:sp>
      <p:sp>
        <p:nvSpPr>
          <p:cNvPr id="9" name="a112"/>
          <p:cNvSpPr/>
          <p:nvPr/>
        </p:nvSpPr>
        <p:spPr>
          <a:xfrm>
            <a:off x="3611880" y="2926080"/>
            <a:ext cx="0" cy="32004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0" name="b113"/>
          <p:cNvSpPr/>
          <p:nvPr/>
        </p:nvSpPr>
        <p:spPr>
          <a:xfrm>
            <a:off x="548640" y="3246120"/>
            <a:ext cx="61264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114"/>
          <p:cNvSpPr/>
          <p:nvPr/>
        </p:nvSpPr>
        <p:spPr>
          <a:xfrm>
            <a:off x="822960" y="35478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115"/>
          <p:cNvSpPr txBox="1"/>
          <p:nvPr/>
        </p:nvSpPr>
        <p:spPr>
          <a:xfrm>
            <a:off x="160020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Calibrated head</a:t>
            </a:r>
            <a:endParaRPr lang="en-US" sz="1500" dirty="0"/>
          </a:p>
        </p:txBody>
      </p:sp>
      <p:sp>
        <p:nvSpPr>
          <p:cNvPr id="13" name="t116"/>
          <p:cNvSpPr txBox="1"/>
          <p:nvPr/>
        </p:nvSpPr>
        <p:spPr>
          <a:xfrm>
            <a:off x="1600200" y="38679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Logistic regression + Platt scaling on frozen features</a:t>
            </a:r>
            <a:endParaRPr lang="en-US" sz="1200" dirty="0"/>
          </a:p>
        </p:txBody>
      </p:sp>
      <p:sp>
        <p:nvSpPr>
          <p:cNvPr id="14" name="a117"/>
          <p:cNvSpPr/>
          <p:nvPr/>
        </p:nvSpPr>
        <p:spPr>
          <a:xfrm>
            <a:off x="3611880" y="4389120"/>
            <a:ext cx="0" cy="32004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5" name="b118"/>
          <p:cNvSpPr/>
          <p:nvPr/>
        </p:nvSpPr>
        <p:spPr>
          <a:xfrm>
            <a:off x="548640" y="4709160"/>
            <a:ext cx="61264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119"/>
          <p:cNvSpPr/>
          <p:nvPr/>
        </p:nvSpPr>
        <p:spPr>
          <a:xfrm>
            <a:off x="822960" y="50109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120"/>
          <p:cNvSpPr txBox="1"/>
          <p:nvPr/>
        </p:nvSpPr>
        <p:spPr>
          <a:xfrm>
            <a:off x="1600200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Hash in the policy</a:t>
            </a:r>
            <a:endParaRPr lang="en-US" sz="1500" dirty="0"/>
          </a:p>
        </p:txBody>
      </p:sp>
      <p:sp>
        <p:nvSpPr>
          <p:cNvPr id="18" name="t121"/>
          <p:cNvSpPr txBox="1"/>
          <p:nvPr/>
        </p:nvSpPr>
        <p:spPr>
          <a:xfrm>
            <a:off x="1600200" y="5330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file SHA-256 is checked at attestation</a:t>
            </a:r>
            <a:endParaRPr lang="en-US" sz="1200" dirty="0"/>
          </a:p>
        </p:txBody>
      </p:sp>
      <p:sp>
        <p:nvSpPr>
          <p:cNvPr id="19" name="b122"/>
          <p:cNvSpPr/>
          <p:nvPr/>
        </p:nvSpPr>
        <p:spPr>
          <a:xfrm>
            <a:off x="7040880" y="1783080"/>
            <a:ext cx="4599432" cy="4069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123"/>
          <p:cNvSpPr txBox="1"/>
          <p:nvPr/>
        </p:nvSpPr>
        <p:spPr>
          <a:xfrm>
            <a:off x="731520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DETAILS</a:t>
            </a:r>
            <a:endParaRPr lang="en-US" sz="1100" dirty="0"/>
          </a:p>
        </p:txBody>
      </p:sp>
      <p:sp>
        <p:nvSpPr>
          <p:cNvPr id="21" name="l124"/>
          <p:cNvSpPr txBox="1"/>
          <p:nvPr/>
        </p:nvSpPr>
        <p:spPr>
          <a:xfrm>
            <a:off x="7315200" y="251460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Pure-PyTorch port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since no torchvision wheel exists for s390x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Swap the model, no key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released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IBM Granite explains results on the host side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prototype, not a diagnostic device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Patient-level splits keep evaluation honest</a:t>
            </a:r>
            <a:endParaRPr lang="en-US" sz="2400" dirty="0"/>
          </a:p>
        </p:txBody>
      </p:sp>
      <p:sp>
        <p:nvSpPr>
          <p:cNvPr id="3" name="t125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AND EVALUATION</a:t>
            </a:r>
            <a:endParaRPr lang="en-US" sz="1700" dirty="0"/>
          </a:p>
        </p:txBody>
      </p:sp>
      <p:sp>
        <p:nvSpPr>
          <p:cNvPr id="5" name="b126"/>
          <p:cNvSpPr/>
          <p:nvPr/>
        </p:nvSpPr>
        <p:spPr>
          <a:xfrm>
            <a:off x="548640" y="1783080"/>
            <a:ext cx="11064240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127"/>
          <p:cNvSpPr txBox="1"/>
          <p:nvPr/>
        </p:nvSpPr>
        <p:spPr>
          <a:xfrm>
            <a:off x="822960" y="20116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RSNA Pneumonia Detection Challenge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(Kaggle)</a:t>
            </a:r>
            <a:endParaRPr lang="en-US" sz="15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DICOM to 512×512 PNG, </a:t>
            </a:r>
            <a:r>
              <a:rPr lang="en-US" sz="15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uploaded externally</a:t>
            </a:r>
            <a:endParaRPr lang="en-US" sz="15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Split by </a:t>
            </a: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id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not by image</a:t>
            </a:r>
            <a:endParaRPr lang="en-US" sz="15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 uses 20 held-out studies</a:t>
            </a:r>
            <a:endParaRPr lang="en-US" sz="15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Metrics: AUROC, sensitivity and specificity at a fixed threshold, calibration</a:t>
            </a:r>
            <a:endParaRPr lang="en-US" sz="1500" dirty="0"/>
          </a:p>
        </p:txBody>
      </p:sp>
      <p:sp>
        <p:nvSpPr>
          <p:cNvPr id="9" name="b130"/>
          <p:cNvSpPr/>
          <p:nvPr/>
        </p:nvSpPr>
        <p:spPr>
          <a:xfrm>
            <a:off x="548640" y="5532120"/>
            <a:ext cx="11091672" cy="594360"/>
          </a:xfrm>
          <a:prstGeom prst="rect">
            <a:avLst/>
          </a:prstGeom>
          <a:solidFill>
            <a:srgbClr val="FCF4D6"/>
          </a:solidFill>
          <a:ln w="12700">
            <a:solidFill>
              <a:srgbClr val="FCF4D6"/>
            </a:solidFill>
            <a:prstDash val="solid"/>
          </a:ln>
        </p:spPr>
      </p:sp>
      <p:sp>
        <p:nvSpPr>
          <p:cNvPr id="10" name="t131"/>
          <p:cNvSpPr txBox="1"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Caveat: the backbone was pre-trained on data that includes RSNA, so numbers will be optimistic.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key is released only to a guest whose code and model match policy</a:t>
            </a:r>
            <a:endParaRPr lang="en-US" sz="2400" dirty="0"/>
          </a:p>
        </p:txBody>
      </p:sp>
      <p:sp>
        <p:nvSpPr>
          <p:cNvPr id="3" name="t132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RELEASE</a:t>
            </a:r>
            <a:endParaRPr lang="en-US" sz="1700" dirty="0"/>
          </a:p>
        </p:txBody>
      </p:sp>
      <p:sp>
        <p:nvSpPr>
          <p:cNvPr id="4" name="sim133"/>
          <p:cNvSpPr/>
          <p:nvPr/>
        </p:nvSpPr>
        <p:spPr>
          <a:xfrm>
            <a:off x="10241280" y="237744"/>
            <a:ext cx="1399032" cy="310896"/>
          </a:xfrm>
          <a:prstGeom prst="roundRect">
            <a:avLst>
              <a:gd name="adj" fmla="val 23529"/>
            </a:avLst>
          </a:prstGeom>
          <a:solidFill>
            <a:srgbClr val="FCF4D6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chemeClr val="accent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6" name="lane134"/>
          <p:cNvSpPr/>
          <p:nvPr/>
        </p:nvSpPr>
        <p:spPr>
          <a:xfrm>
            <a:off x="548640" y="1783080"/>
            <a:ext cx="2743200" cy="457200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Trusted guest</a:t>
            </a:r>
            <a:endParaRPr lang="en-US" sz="1300" dirty="0"/>
          </a:p>
        </p:txBody>
      </p:sp>
      <p:sp>
        <p:nvSpPr>
          <p:cNvPr id="7" name="ll135"/>
          <p:cNvSpPr/>
          <p:nvPr/>
        </p:nvSpPr>
        <p:spPr>
          <a:xfrm>
            <a:off x="1920240" y="2240280"/>
            <a:ext cx="0" cy="3474720"/>
          </a:xfrm>
          <a:prstGeom prst="line">
            <a:avLst/>
          </a:prstGeom>
          <a:noFill/>
          <a:ln w="19050">
            <a:solidFill>
              <a:srgbClr val="C6C6C6"/>
            </a:solidFill>
            <a:prstDash val="dash"/>
          </a:ln>
        </p:spPr>
      </p:sp>
      <p:sp>
        <p:nvSpPr>
          <p:cNvPr id="8" name="lane136"/>
          <p:cNvSpPr/>
          <p:nvPr/>
        </p:nvSpPr>
        <p:spPr>
          <a:xfrm>
            <a:off x="4709160" y="1783080"/>
            <a:ext cx="2743200" cy="4572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Attestation + key broker</a:t>
            </a:r>
            <a:endParaRPr lang="en-US" sz="1300" dirty="0"/>
          </a:p>
        </p:txBody>
      </p:sp>
      <p:sp>
        <p:nvSpPr>
          <p:cNvPr id="9" name="ll137"/>
          <p:cNvSpPr/>
          <p:nvPr/>
        </p:nvSpPr>
        <p:spPr>
          <a:xfrm>
            <a:off x="6080760" y="2240280"/>
            <a:ext cx="0" cy="3474720"/>
          </a:xfrm>
          <a:prstGeom prst="line">
            <a:avLst/>
          </a:prstGeom>
          <a:noFill/>
          <a:ln w="19050">
            <a:solidFill>
              <a:srgbClr val="C6C6C6"/>
            </a:solidFill>
            <a:prstDash val="dash"/>
          </a:ln>
        </p:spPr>
      </p:sp>
      <p:sp>
        <p:nvSpPr>
          <p:cNvPr id="10" name="lane138"/>
          <p:cNvSpPr/>
          <p:nvPr/>
        </p:nvSpPr>
        <p:spPr>
          <a:xfrm>
            <a:off x="8869680" y="1783080"/>
            <a:ext cx="2743200" cy="4572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PACS vault</a:t>
            </a:r>
            <a:endParaRPr lang="en-US" sz="1300" dirty="0"/>
          </a:p>
        </p:txBody>
      </p:sp>
      <p:sp>
        <p:nvSpPr>
          <p:cNvPr id="11" name="ll139"/>
          <p:cNvSpPr/>
          <p:nvPr/>
        </p:nvSpPr>
        <p:spPr>
          <a:xfrm>
            <a:off x="10241280" y="2240280"/>
            <a:ext cx="0" cy="3474720"/>
          </a:xfrm>
          <a:prstGeom prst="line">
            <a:avLst/>
          </a:prstGeom>
          <a:noFill/>
          <a:ln w="19050">
            <a:solidFill>
              <a:srgbClr val="C6C6C6"/>
            </a:solidFill>
            <a:prstDash val="dash"/>
          </a:ln>
        </p:spPr>
      </p:sp>
      <p:sp>
        <p:nvSpPr>
          <p:cNvPr id="12" name="t140"/>
          <p:cNvSpPr txBox="1"/>
          <p:nvPr/>
        </p:nvSpPr>
        <p:spPr>
          <a:xfrm>
            <a:off x="21945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  Evidence: guest hash, model hash, two public keys, single-use nonce</a:t>
            </a:r>
            <a:endParaRPr lang="en-US" sz="1100" dirty="0"/>
          </a:p>
        </p:txBody>
      </p:sp>
      <p:sp>
        <p:nvSpPr>
          <p:cNvPr id="13" name="a141"/>
          <p:cNvSpPr/>
          <p:nvPr/>
        </p:nvSpPr>
        <p:spPr>
          <a:xfrm>
            <a:off x="1920240" y="2834640"/>
            <a:ext cx="41605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cmp142"/>
          <p:cNvSpPr/>
          <p:nvPr/>
        </p:nvSpPr>
        <p:spPr>
          <a:xfrm>
            <a:off x="4069080" y="3063240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>
            <a:solidFill>
              <a:srgbClr val="C6C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  Check policy, issue a signed 60 s token</a:t>
            </a:r>
            <a:endParaRPr lang="en-US" sz="1100" dirty="0"/>
          </a:p>
        </p:txBody>
      </p:sp>
      <p:sp>
        <p:nvSpPr>
          <p:cNvPr id="15" name="t143"/>
          <p:cNvSpPr txBox="1"/>
          <p:nvPr/>
        </p:nvSpPr>
        <p:spPr>
          <a:xfrm>
            <a:off x="219456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3a  Match: key re-wrapped to this guest only</a:t>
            </a:r>
            <a:endParaRPr lang="en-US" sz="1100" dirty="0"/>
          </a:p>
        </p:txBody>
      </p:sp>
      <p:sp>
        <p:nvSpPr>
          <p:cNvPr id="16" name="a144"/>
          <p:cNvSpPr/>
          <p:nvPr/>
        </p:nvSpPr>
        <p:spPr>
          <a:xfrm flipH="1">
            <a:off x="1920240" y="4069080"/>
            <a:ext cx="41605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t145"/>
          <p:cNvSpPr txBox="1"/>
          <p:nvPr/>
        </p:nvSpPr>
        <p:spPr>
          <a:xfrm>
            <a:off x="219456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3b  Any mismatch: refusal, reason logged</a:t>
            </a:r>
            <a:endParaRPr lang="en-US" sz="1100" dirty="0"/>
          </a:p>
        </p:txBody>
      </p:sp>
      <p:sp>
        <p:nvSpPr>
          <p:cNvPr id="18" name="a146"/>
          <p:cNvSpPr/>
          <p:nvPr/>
        </p:nvSpPr>
        <p:spPr>
          <a:xfrm flipH="1">
            <a:off x="1920240" y="4617720"/>
            <a:ext cx="41605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19" name="t147"/>
          <p:cNvSpPr txBox="1"/>
          <p:nvPr/>
        </p:nvSpPr>
        <p:spPr>
          <a:xfrm>
            <a:off x="3108960" y="4846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  Decrypt, score, wipe. Return the signed five-field result</a:t>
            </a:r>
            <a:endParaRPr lang="en-US" sz="1100" dirty="0"/>
          </a:p>
        </p:txBody>
      </p:sp>
      <p:sp>
        <p:nvSpPr>
          <p:cNvPr id="20" name="a148"/>
          <p:cNvSpPr/>
          <p:nvPr/>
        </p:nvSpPr>
        <p:spPr>
          <a:xfrm>
            <a:off x="1920240" y="5303520"/>
            <a:ext cx="8321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t149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Simulated: measurement is self-reported here. On real Secure Execution the Ultravisor signs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Only five fields leave the guest, signed, and anything extra is rejected</a:t>
            </a:r>
            <a:endParaRPr lang="en-US" sz="2400" dirty="0"/>
          </a:p>
        </p:txBody>
      </p:sp>
      <p:sp>
        <p:nvSpPr>
          <p:cNvPr id="3" name="t150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 GUARD</a:t>
            </a:r>
            <a:endParaRPr lang="en-US" sz="1700" dirty="0"/>
          </a:p>
        </p:txBody>
      </p:sp>
      <p:sp>
        <p:nvSpPr>
          <p:cNvPr id="5" name="b151"/>
          <p:cNvSpPr/>
          <p:nvPr/>
        </p:nvSpPr>
        <p:spPr>
          <a:xfrm>
            <a:off x="548640" y="1783080"/>
            <a:ext cx="5212080" cy="2834640"/>
          </a:xfrm>
          <a:prstGeom prst="rect">
            <a:avLst/>
          </a:prstGeom>
          <a:solidFill>
            <a:srgbClr val="F4F4F4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6" name="t152"/>
          <p:cNvSpPr txBox="1"/>
          <p:nvPr/>
        </p:nvSpPr>
        <p:spPr>
          <a:xfrm>
            <a:off x="822960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tx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crai.result.v1</a:t>
            </a:r>
            <a:endParaRPr lang="en-US" sz="1100" dirty="0"/>
          </a:p>
        </p:txBody>
      </p:sp>
      <p:sp>
        <p:nvSpPr>
          <p:cNvPr id="7" name="t153"/>
          <p:cNvSpPr txBox="1"/>
          <p:nvPr/>
        </p:nvSpPr>
        <p:spPr>
          <a:xfrm>
            <a:off x="822960" y="24231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"schema": "crai.result.v1",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"study_hash": "…",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"model_hash": "…",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"pneumonia_probability": 0.0067,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"time": "…"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b154"/>
          <p:cNvSpPr/>
          <p:nvPr/>
        </p:nvSpPr>
        <p:spPr>
          <a:xfrm>
            <a:off x="548640" y="4846320"/>
            <a:ext cx="5212080" cy="1234440"/>
          </a:xfrm>
          <a:prstGeom prst="rect">
            <a:avLst/>
          </a:prstGeom>
          <a:solidFill>
            <a:schemeClr val="bg2"/>
          </a:solidFill>
          <a:ln w="12700">
            <a:solidFill>
              <a:srgbClr val="8D8D8D"/>
            </a:solidFill>
            <a:prstDash val="dash"/>
          </a:ln>
        </p:spPr>
      </p:sp>
      <p:sp>
        <p:nvSpPr>
          <p:cNvPr id="9" name="t155"/>
          <p:cNvSpPr txBox="1"/>
          <p:nvPr/>
        </p:nvSpPr>
        <p:spPr>
          <a:xfrm>
            <a:off x="82296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kern="0" spc="200" dirty="0">
                <a:solidFill>
                  <a:schemeClr val="tx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 PLACEHOLDER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Rejected-output screenshot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attack_crop.jpg</a:t>
            </a:r>
            <a:endParaRPr lang="en-US" sz="1000" dirty="0"/>
          </a:p>
        </p:txBody>
      </p:sp>
      <p:sp>
        <p:nvSpPr>
          <p:cNvPr id="10" name="b156"/>
          <p:cNvSpPr/>
          <p:nvPr/>
        </p:nvSpPr>
        <p:spPr>
          <a:xfrm>
            <a:off x="6126480" y="1783080"/>
            <a:ext cx="5513832" cy="4297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157"/>
          <p:cNvSpPr txBox="1"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MAKES IT SAFE</a:t>
            </a:r>
            <a:endParaRPr lang="en-US" sz="1100" dirty="0"/>
          </a:p>
        </p:txBody>
      </p:sp>
      <p:sp>
        <p:nvSpPr>
          <p:cNvPr id="12" name="l158"/>
          <p:cNvSpPr txBox="1"/>
          <p:nvPr/>
        </p:nvSpPr>
        <p:spPr>
          <a:xfrm>
            <a:off x="6400800" y="251460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Ed25519 signature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from the key the token approved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 fields such as </a:t>
            </a:r>
            <a:r>
              <a:rPr lang="en-US" sz="14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image_png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or </a:t>
            </a:r>
            <a:r>
              <a:rPr lang="en-US" sz="14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patient_id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are </a:t>
            </a: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rejected on both sides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Hash-chained audit log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no pixels, keys, or patient ids; edit one line and the chain breaks</a:t>
            </a:r>
            <a:endParaRPr lang="en-US" sz="14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Token-bucket rate limit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per client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135116-C428-028C-DC17-B77699421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4846321"/>
            <a:ext cx="5212080" cy="13486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 test the claim we attack the system eleven ways and expect a named refusal each time</a:t>
            </a:r>
            <a:endParaRPr lang="en-US" sz="2400" dirty="0"/>
          </a:p>
        </p:txBody>
      </p:sp>
      <p:sp>
        <p:nvSpPr>
          <p:cNvPr id="3" name="t159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READ THE EVIDENCE</a:t>
            </a:r>
            <a:endParaRPr lang="en-US" sz="1700" dirty="0"/>
          </a:p>
        </p:txBody>
      </p:sp>
      <p:sp>
        <p:nvSpPr>
          <p:cNvPr id="5" name="b160"/>
          <p:cNvSpPr/>
          <p:nvPr/>
        </p:nvSpPr>
        <p:spPr>
          <a:xfrm>
            <a:off x="548640" y="1783080"/>
            <a:ext cx="3291840" cy="2423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161"/>
          <p:cNvSpPr txBox="1"/>
          <p:nvPr/>
        </p:nvSpPr>
        <p:spPr>
          <a:xfrm>
            <a:off x="82296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Attack</a:t>
            </a:r>
            <a:endParaRPr lang="en-US" sz="1500" dirty="0"/>
          </a:p>
        </p:txBody>
      </p:sp>
      <p:sp>
        <p:nvSpPr>
          <p:cNvPr id="7" name="t162"/>
          <p:cNvSpPr txBox="1"/>
          <p:nvPr/>
        </p:nvSpPr>
        <p:spPr>
          <a:xfrm>
            <a:off x="822960" y="2788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 example: flip one byte of the model file.</a:t>
            </a:r>
            <a:endParaRPr lang="en-US" sz="1500" dirty="0"/>
          </a:p>
        </p:txBody>
      </p:sp>
      <p:sp>
        <p:nvSpPr>
          <p:cNvPr id="8" name="a163"/>
          <p:cNvSpPr/>
          <p:nvPr/>
        </p:nvSpPr>
        <p:spPr>
          <a:xfrm>
            <a:off x="3840480" y="3017520"/>
            <a:ext cx="594360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9" name="b164"/>
          <p:cNvSpPr/>
          <p:nvPr/>
        </p:nvSpPr>
        <p:spPr>
          <a:xfrm>
            <a:off x="4434840" y="1783080"/>
            <a:ext cx="3291840" cy="2423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165"/>
          <p:cNvSpPr txBox="1"/>
          <p:nvPr/>
        </p:nvSpPr>
        <p:spPr>
          <a:xfrm>
            <a:off x="470916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System responds</a:t>
            </a:r>
            <a:endParaRPr lang="en-US" sz="1500" dirty="0"/>
          </a:p>
        </p:txBody>
      </p:sp>
      <p:sp>
        <p:nvSpPr>
          <p:cNvPr id="11" name="t166"/>
          <p:cNvSpPr txBox="1"/>
          <p:nvPr/>
        </p:nvSpPr>
        <p:spPr>
          <a:xfrm>
            <a:off x="4709160" y="2788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Attestation compares hashes, then the broker decides.</a:t>
            </a:r>
            <a:endParaRPr lang="en-US" sz="1500" dirty="0"/>
          </a:p>
        </p:txBody>
      </p:sp>
      <p:sp>
        <p:nvSpPr>
          <p:cNvPr id="12" name="a167"/>
          <p:cNvSpPr/>
          <p:nvPr/>
        </p:nvSpPr>
        <p:spPr>
          <a:xfrm>
            <a:off x="7726680" y="3017520"/>
            <a:ext cx="594360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3" name="b168"/>
          <p:cNvSpPr/>
          <p:nvPr/>
        </p:nvSpPr>
        <p:spPr>
          <a:xfrm>
            <a:off x="8321040" y="1783080"/>
            <a:ext cx="3291840" cy="24231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169"/>
          <p:cNvSpPr txBox="1"/>
          <p:nvPr/>
        </p:nvSpPr>
        <p:spPr>
          <a:xfrm>
            <a:off x="859536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Pass = refusal</a:t>
            </a:r>
            <a:endParaRPr lang="en-US" sz="1500" dirty="0"/>
          </a:p>
        </p:txBody>
      </p:sp>
      <p:sp>
        <p:nvSpPr>
          <p:cNvPr id="15" name="t170"/>
          <p:cNvSpPr txBox="1"/>
          <p:nvPr/>
        </p:nvSpPr>
        <p:spPr>
          <a:xfrm>
            <a:off x="8595360" y="2788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key, no pixels, and a reason in the log.</a:t>
            </a:r>
            <a:endParaRPr lang="en-US" sz="1500" dirty="0"/>
          </a:p>
        </p:txBody>
      </p:sp>
      <p:sp>
        <p:nvSpPr>
          <p:cNvPr id="16" name="b171"/>
          <p:cNvSpPr/>
          <p:nvPr/>
        </p:nvSpPr>
        <p:spPr>
          <a:xfrm>
            <a:off x="548640" y="4572000"/>
            <a:ext cx="5440680" cy="1463040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7" name="t172"/>
          <p:cNvSpPr txBox="1"/>
          <p:nvPr/>
        </p:nvSpPr>
        <p:spPr>
          <a:xfrm>
            <a:off x="82296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Attacks 1 to 7</a:t>
            </a:r>
            <a:endParaRPr lang="en-US" sz="1400" dirty="0"/>
          </a:p>
        </p:txBody>
      </p:sp>
      <p:sp>
        <p:nvSpPr>
          <p:cNvPr id="18" name="t173"/>
          <p:cNvSpPr txBox="1"/>
          <p:nvPr/>
        </p:nvSpPr>
        <p:spPr>
          <a:xfrm>
            <a:off x="822960" y="5212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Model, guest code, ciphertext, tag, token, stored data, output fields</a:t>
            </a:r>
            <a:endParaRPr lang="en-US" sz="1200" dirty="0"/>
          </a:p>
        </p:txBody>
      </p:sp>
      <p:sp>
        <p:nvSpPr>
          <p:cNvPr id="19" name="b174"/>
          <p:cNvSpPr/>
          <p:nvPr/>
        </p:nvSpPr>
        <p:spPr>
          <a:xfrm>
            <a:off x="6172200" y="4572000"/>
            <a:ext cx="5440680" cy="1463040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0" name="t175"/>
          <p:cNvSpPr txBox="1"/>
          <p:nvPr/>
        </p:nvSpPr>
        <p:spPr>
          <a:xfrm>
            <a:off x="644652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 tests E1 to E4</a:t>
            </a:r>
            <a:endParaRPr lang="en-US" sz="1400" dirty="0"/>
          </a:p>
        </p:txBody>
      </p:sp>
      <p:sp>
        <p:nvSpPr>
          <p:cNvPr id="21" name="t176"/>
          <p:cNvSpPr txBox="1"/>
          <p:nvPr/>
        </p:nvSpPr>
        <p:spPr>
          <a:xfrm>
            <a:off x="6446520" y="5212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Replay, request flood, audit-log edit, network egress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All eleven attacks were refused, each with a named reason</a:t>
            </a:r>
            <a:endParaRPr lang="en-US" sz="2400" dirty="0"/>
          </a:p>
        </p:txBody>
      </p:sp>
      <p:sp>
        <p:nvSpPr>
          <p:cNvPr id="3" name="t177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 ATTACKS</a:t>
            </a:r>
            <a:endParaRPr lang="en-US" sz="1700" dirty="0"/>
          </a:p>
        </p:txBody>
      </p:sp>
      <p:graphicFrame>
        <p:nvGraphicFramePr>
          <p:cNvPr id="15" name="tbl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697910"/>
              </p:ext>
            </p:extLst>
          </p:nvPr>
        </p:nvGraphicFramePr>
        <p:xfrm>
          <a:off x="116541" y="1783080"/>
          <a:ext cx="5289177" cy="4096293"/>
        </p:xfrm>
        <a:graphic>
          <a:graphicData uri="http://schemas.openxmlformats.org/drawingml/2006/table">
            <a:tbl>
              <a:tblPr/>
              <a:tblGrid>
                <a:gridCol w="48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8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Attack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Observed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Flip 1 byte of the model file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model_hash_mismatch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8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Add 1 line to the guest code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guest_image_hash_mismatch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Truncate the ciphertext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malformed / truncated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Flip the AES-GCM tag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authentication failed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Use a token after it expires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token_expired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Alter stored ciphertext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study_hash_mismatch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8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Add image_png / patient_id to output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rejected on both levels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E1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Replay old evidence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nonce_unknown_or_used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E2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 requests in 2 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 allowed, 15 refused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E3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Edit one audit-log line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chain breaks at that line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E4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Guest connects to the internet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BLOCKED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b179"/>
          <p:cNvSpPr/>
          <p:nvPr/>
        </p:nvSpPr>
        <p:spPr>
          <a:xfrm>
            <a:off x="7863840" y="1783080"/>
            <a:ext cx="3776472" cy="4069080"/>
          </a:xfrm>
          <a:prstGeom prst="rect">
            <a:avLst/>
          </a:prstGeom>
          <a:solidFill>
            <a:schemeClr val="bg2"/>
          </a:solidFill>
          <a:ln w="12700">
            <a:solidFill>
              <a:srgbClr val="8D8D8D"/>
            </a:solidFill>
            <a:prstDash val="dash"/>
          </a:ln>
        </p:spPr>
      </p:sp>
      <p:sp>
        <p:nvSpPr>
          <p:cNvPr id="7" name="t180"/>
          <p:cNvSpPr txBox="1"/>
          <p:nvPr/>
        </p:nvSpPr>
        <p:spPr>
          <a:xfrm>
            <a:off x="8138160" y="1783080"/>
            <a:ext cx="322783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kern="0" spc="200" dirty="0">
                <a:solidFill>
                  <a:schemeClr val="tx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 PLACEHOLDER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notebook output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tests_table.jpg</a:t>
            </a:r>
            <a:endParaRPr lang="en-US" sz="1000" dirty="0"/>
          </a:p>
        </p:txBody>
      </p:sp>
      <p:sp>
        <p:nvSpPr>
          <p:cNvPr id="8" name="t181"/>
          <p:cNvSpPr txBox="1"/>
          <p:nvPr/>
        </p:nvSpPr>
        <p:spPr>
          <a:xfrm>
            <a:off x="548640" y="5943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Reference: notebook §5 · crai/security_tests.py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B2BB4-B68A-EEE7-F893-2928B87D4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294" y="1783080"/>
            <a:ext cx="6662536" cy="40941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 normal scan is scored in seconds while the host sees only ciphertext</a:t>
            </a:r>
            <a:endParaRPr lang="en-US" sz="2400" dirty="0"/>
          </a:p>
        </p:txBody>
      </p:sp>
      <p:sp>
        <p:nvSpPr>
          <p:cNvPr id="3" name="t182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 LIVE DEMO</a:t>
            </a:r>
            <a:endParaRPr lang="en-US" sz="1700" dirty="0"/>
          </a:p>
        </p:txBody>
      </p:sp>
      <p:sp>
        <p:nvSpPr>
          <p:cNvPr id="4" name="sim183"/>
          <p:cNvSpPr/>
          <p:nvPr/>
        </p:nvSpPr>
        <p:spPr>
          <a:xfrm>
            <a:off x="10241280" y="237744"/>
            <a:ext cx="1399032" cy="310896"/>
          </a:xfrm>
          <a:prstGeom prst="roundRect">
            <a:avLst>
              <a:gd name="adj" fmla="val 23529"/>
            </a:avLst>
          </a:prstGeom>
          <a:solidFill>
            <a:srgbClr val="FCF4D6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chemeClr val="accent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6" name="b184"/>
          <p:cNvSpPr/>
          <p:nvPr/>
        </p:nvSpPr>
        <p:spPr>
          <a:xfrm>
            <a:off x="548640" y="1783080"/>
            <a:ext cx="5440680" cy="3108960"/>
          </a:xfrm>
          <a:prstGeom prst="rect">
            <a:avLst/>
          </a:prstGeom>
          <a:solidFill>
            <a:schemeClr val="bg2"/>
          </a:solidFill>
          <a:ln w="12700">
            <a:solidFill>
              <a:srgbClr val="8D8D8D"/>
            </a:solidFill>
            <a:prstDash val="dash"/>
          </a:ln>
        </p:spPr>
      </p:sp>
      <p:sp>
        <p:nvSpPr>
          <p:cNvPr id="7" name="t185"/>
          <p:cNvSpPr txBox="1"/>
          <p:nvPr/>
        </p:nvSpPr>
        <p:spPr>
          <a:xfrm>
            <a:off x="822960" y="178308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kern="0" spc="200" dirty="0">
                <a:solidFill>
                  <a:schemeClr val="tx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 PLACEHOLDER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Before: pick a scan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demo_normal.jpg</a:t>
            </a:r>
            <a:endParaRPr lang="en-US" sz="1000" dirty="0"/>
          </a:p>
        </p:txBody>
      </p:sp>
      <p:sp>
        <p:nvSpPr>
          <p:cNvPr id="8" name="b186"/>
          <p:cNvSpPr/>
          <p:nvPr/>
        </p:nvSpPr>
        <p:spPr>
          <a:xfrm>
            <a:off x="6199632" y="1783080"/>
            <a:ext cx="5440680" cy="3108960"/>
          </a:xfrm>
          <a:prstGeom prst="rect">
            <a:avLst/>
          </a:prstGeom>
          <a:solidFill>
            <a:schemeClr val="bg2"/>
          </a:solidFill>
          <a:ln w="12700">
            <a:solidFill>
              <a:srgbClr val="8D8D8D"/>
            </a:solidFill>
            <a:prstDash val="dash"/>
          </a:ln>
        </p:spPr>
      </p:sp>
      <p:sp>
        <p:nvSpPr>
          <p:cNvPr id="9" name="t187"/>
          <p:cNvSpPr txBox="1"/>
          <p:nvPr/>
        </p:nvSpPr>
        <p:spPr>
          <a:xfrm>
            <a:off x="6473952" y="178308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kern="0" spc="200" dirty="0">
                <a:solidFill>
                  <a:schemeClr val="tx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 PLACEHOLDER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After: six stages green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demo_result.jpg</a:t>
            </a:r>
            <a:endParaRPr lang="en-US" sz="1000" dirty="0"/>
          </a:p>
        </p:txBody>
      </p:sp>
      <p:sp>
        <p:nvSpPr>
          <p:cNvPr id="10" name="a188"/>
          <p:cNvSpPr/>
          <p:nvPr/>
        </p:nvSpPr>
        <p:spPr>
          <a:xfrm>
            <a:off x="5989320" y="3337560"/>
            <a:ext cx="210312" cy="0"/>
          </a:xfrm>
          <a:prstGeom prst="line">
            <a:avLst/>
          </a:prstGeom>
          <a:noFill/>
          <a:ln w="2540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1" name="t189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a scan  →  </a:t>
            </a: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Encrypt &amp; score securely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→  six stages go green  →  </a:t>
            </a:r>
            <a:r>
              <a:rPr lang="en-US" sz="15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Pneumonia probability: 0.0067</a:t>
            </a:r>
            <a:endParaRPr lang="en-US" sz="1500" dirty="0"/>
          </a:p>
        </p:txBody>
      </p:sp>
      <p:sp>
        <p:nvSpPr>
          <p:cNvPr id="12" name="t190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Notebook §6 · crai/ui.py. The simulation banner stays visible in the screenshots.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85C0CC-0330-60B6-F2BB-0FAC9BA1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783080"/>
            <a:ext cx="5440679" cy="31089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ED9189-8099-473B-C8D9-85AEF4EF1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783080"/>
            <a:ext cx="5440679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Add one line to the guest code and the same button is refused</a:t>
            </a:r>
            <a:endParaRPr lang="en-US" sz="2400" dirty="0"/>
          </a:p>
        </p:txBody>
      </p:sp>
      <p:sp>
        <p:nvSpPr>
          <p:cNvPr id="3" name="t191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 ATTACK LIVE</a:t>
            </a:r>
            <a:endParaRPr lang="en-US" sz="1700" dirty="0"/>
          </a:p>
        </p:txBody>
      </p:sp>
      <p:sp>
        <p:nvSpPr>
          <p:cNvPr id="4" name="sim192"/>
          <p:cNvSpPr/>
          <p:nvPr/>
        </p:nvSpPr>
        <p:spPr>
          <a:xfrm>
            <a:off x="10241280" y="237744"/>
            <a:ext cx="1399032" cy="310896"/>
          </a:xfrm>
          <a:prstGeom prst="roundRect">
            <a:avLst>
              <a:gd name="adj" fmla="val 23529"/>
            </a:avLst>
          </a:prstGeom>
          <a:solidFill>
            <a:srgbClr val="FCF4D6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chemeClr val="accent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6" name="b193"/>
          <p:cNvSpPr/>
          <p:nvPr/>
        </p:nvSpPr>
        <p:spPr>
          <a:xfrm>
            <a:off x="548640" y="1783080"/>
            <a:ext cx="6858000" cy="4297680"/>
          </a:xfrm>
          <a:prstGeom prst="rect">
            <a:avLst/>
          </a:prstGeom>
          <a:solidFill>
            <a:schemeClr val="bg2"/>
          </a:solidFill>
          <a:ln w="12700">
            <a:solidFill>
              <a:srgbClr val="8D8D8D"/>
            </a:solidFill>
            <a:prstDash val="dash"/>
          </a:ln>
        </p:spPr>
      </p:sp>
      <p:sp>
        <p:nvSpPr>
          <p:cNvPr id="7" name="t194"/>
          <p:cNvSpPr txBox="1"/>
          <p:nvPr/>
        </p:nvSpPr>
        <p:spPr>
          <a:xfrm>
            <a:off x="822960" y="178308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kern="0" spc="200" dirty="0">
                <a:solidFill>
                  <a:schemeClr val="tx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 PLACEHOLDER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Refused at the attest stage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attack_refused.jpg</a:t>
            </a:r>
            <a:endParaRPr lang="en-US" sz="1000" dirty="0"/>
          </a:p>
        </p:txBody>
      </p:sp>
      <p:sp>
        <p:nvSpPr>
          <p:cNvPr id="8" name="b195"/>
          <p:cNvSpPr/>
          <p:nvPr/>
        </p:nvSpPr>
        <p:spPr>
          <a:xfrm>
            <a:off x="7772400" y="1783080"/>
            <a:ext cx="3867912" cy="4297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196"/>
          <p:cNvSpPr txBox="1"/>
          <p:nvPr/>
        </p:nvSpPr>
        <p:spPr>
          <a:xfrm>
            <a:off x="80467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ATTACK</a:t>
            </a:r>
            <a:endParaRPr lang="en-US" sz="1100" dirty="0"/>
          </a:p>
        </p:txBody>
      </p:sp>
      <p:sp>
        <p:nvSpPr>
          <p:cNvPr id="10" name="t197"/>
          <p:cNvSpPr txBox="1"/>
          <p:nvPr/>
        </p:nvSpPr>
        <p:spPr>
          <a:xfrm>
            <a:off x="804672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open('/tmp/leak.bin','wb').write(buf)</a:t>
            </a:r>
            <a:endParaRPr lang="en-US" sz="1100" dirty="0"/>
          </a:p>
        </p:txBody>
      </p:sp>
      <p:sp>
        <p:nvSpPr>
          <p:cNvPr id="11" name="l198"/>
          <p:cNvSpPr txBox="1"/>
          <p:nvPr/>
        </p:nvSpPr>
        <p:spPr>
          <a:xfrm>
            <a:off x="8046720" y="329184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Attest stage returns </a:t>
            </a:r>
            <a:r>
              <a:rPr lang="en-US" sz="13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guest_image_hash_mismatch</a:t>
            </a:r>
            <a:endParaRPr lang="en-US" sz="13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key, so </a:t>
            </a:r>
            <a:r>
              <a:rPr lang="en-US" sz="13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pixels</a:t>
            </a:r>
            <a:endParaRPr lang="en-US" sz="13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Granite’s plain-language text is shown or </a:t>
            </a:r>
            <a:r>
              <a:rPr lang="en-US" sz="13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withheld by the faithfulness check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277BAB-AE2D-A088-B311-A524D3DD7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8580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Security adds about 23 milliseconds to a roughly 2.5 second request</a:t>
            </a:r>
            <a:endParaRPr lang="en-US" sz="2400" dirty="0"/>
          </a:p>
        </p:txBody>
      </p:sp>
      <p:sp>
        <p:nvSpPr>
          <p:cNvPr id="3" name="t199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 COST</a:t>
            </a:r>
            <a:endParaRPr lang="en-US" sz="1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b200"/>
          <p:cNvSpPr/>
          <p:nvPr/>
        </p:nvSpPr>
        <p:spPr>
          <a:xfrm>
            <a:off x="6949440" y="1783080"/>
            <a:ext cx="4690872" cy="1874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201"/>
          <p:cNvSpPr txBox="1"/>
          <p:nvPr/>
        </p:nvSpPr>
        <p:spPr>
          <a:xfrm>
            <a:off x="7223760" y="201168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Δ 0.0000</a:t>
            </a:r>
            <a:endParaRPr lang="en-US" sz="3200" dirty="0"/>
          </a:p>
        </p:txBody>
      </p:sp>
      <p:sp>
        <p:nvSpPr>
          <p:cNvPr id="8" name="t202"/>
          <p:cNvSpPr txBox="1"/>
          <p:nvPr/>
        </p:nvSpPr>
        <p:spPr>
          <a:xfrm>
            <a:off x="7223760" y="2834640"/>
            <a:ext cx="4142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secure vs plain probability. Max difference 1.55e-5, tolerance 1e-4, on 1 public sample image.</a:t>
            </a:r>
            <a:endParaRPr lang="en-US" sz="1400" dirty="0"/>
          </a:p>
        </p:txBody>
      </p:sp>
      <p:sp>
        <p:nvSpPr>
          <p:cNvPr id="9" name="b203"/>
          <p:cNvSpPr/>
          <p:nvPr/>
        </p:nvSpPr>
        <p:spPr>
          <a:xfrm>
            <a:off x="6949440" y="3840480"/>
            <a:ext cx="4690872" cy="1874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204"/>
          <p:cNvSpPr txBox="1"/>
          <p:nvPr/>
        </p:nvSpPr>
        <p:spPr>
          <a:xfrm>
            <a:off x="7223760" y="406908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~2.5 s vs ~1.0 s</a:t>
            </a:r>
            <a:endParaRPr lang="en-US" sz="2400" dirty="0"/>
          </a:p>
        </p:txBody>
      </p:sp>
      <p:sp>
        <p:nvSpPr>
          <p:cNvPr id="11" name="t205"/>
          <p:cNvSpPr txBox="1"/>
          <p:nvPr/>
        </p:nvSpPr>
        <p:spPr>
          <a:xfrm>
            <a:off x="7223760" y="4892040"/>
            <a:ext cx="4142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secure request vs plain inference. The rest is fresh process + model load.</a:t>
            </a:r>
            <a:endParaRPr lang="en-US" sz="1400" dirty="0"/>
          </a:p>
        </p:txBody>
      </p:sp>
      <p:sp>
        <p:nvSpPr>
          <p:cNvPr id="12" name="t206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Reference: notebook §6, §6b, §4b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Telum cuts inference time by about two to three times with almost no change in probability</a:t>
            </a:r>
            <a:endParaRPr lang="en-US" sz="2400" dirty="0"/>
          </a:p>
        </p:txBody>
      </p:sp>
      <p:sp>
        <p:nvSpPr>
          <p:cNvPr id="3" name="t207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 TELUM</a:t>
            </a:r>
            <a:endParaRPr lang="en-US" sz="1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69494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b208"/>
          <p:cNvSpPr/>
          <p:nvPr/>
        </p:nvSpPr>
        <p:spPr>
          <a:xfrm>
            <a:off x="7863840" y="1783080"/>
            <a:ext cx="3776472" cy="3931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209"/>
          <p:cNvSpPr txBox="1"/>
          <p:nvPr/>
        </p:nvSpPr>
        <p:spPr>
          <a:xfrm>
            <a:off x="813816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WE MEASURED</a:t>
            </a:r>
            <a:endParaRPr lang="en-US" sz="1100" dirty="0"/>
          </a:p>
        </p:txBody>
      </p:sp>
      <p:sp>
        <p:nvSpPr>
          <p:cNvPr id="8" name="l210"/>
          <p:cNvSpPr txBox="1"/>
          <p:nvPr/>
        </p:nvSpPr>
        <p:spPr>
          <a:xfrm>
            <a:off x="8138160" y="251460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Batch 8: about </a:t>
            </a:r>
            <a:r>
              <a:rPr lang="en-US" sz="13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 to 3.6×</a:t>
            </a: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faster</a:t>
            </a:r>
            <a:endParaRPr lang="en-US" sz="13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Probabilities move only ≈0.0004 to 0.0006</a:t>
            </a:r>
            <a:endParaRPr lang="en-US" sz="13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TF port + </a:t>
            </a:r>
            <a:r>
              <a:rPr lang="en-US" sz="13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IBM zDNN plugin</a:t>
            </a:r>
            <a:endParaRPr lang="en-US" sz="13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guest still runs on CPU, not Telum</a:t>
            </a:r>
            <a:endParaRPr lang="en-US" sz="1300" dirty="0"/>
          </a:p>
        </p:txBody>
      </p:sp>
      <p:sp>
        <p:nvSpPr>
          <p:cNvPr id="9" name="t211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Reference: notebook §6b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Granite explains results in plain language, and a faithfulness check can withhold the text</a:t>
            </a:r>
            <a:endParaRPr lang="en-US" sz="2400" dirty="0"/>
          </a:p>
        </p:txBody>
      </p:sp>
      <p:sp>
        <p:nvSpPr>
          <p:cNvPr id="3" name="t212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 EXPLANATIONS</a:t>
            </a:r>
            <a:endParaRPr lang="en-US" sz="1700" dirty="0"/>
          </a:p>
        </p:txBody>
      </p:sp>
      <p:sp>
        <p:nvSpPr>
          <p:cNvPr id="5" name="b213"/>
          <p:cNvSpPr/>
          <p:nvPr/>
        </p:nvSpPr>
        <p:spPr>
          <a:xfrm>
            <a:off x="548640" y="1783080"/>
            <a:ext cx="35661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214"/>
          <p:cNvSpPr txBox="1"/>
          <p:nvPr/>
        </p:nvSpPr>
        <p:spPr>
          <a:xfrm>
            <a:off x="82296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350M</a:t>
            </a:r>
            <a:endParaRPr lang="en-US" sz="3400" dirty="0"/>
          </a:p>
        </p:txBody>
      </p:sp>
      <p:sp>
        <p:nvSpPr>
          <p:cNvPr id="7" name="t215"/>
          <p:cNvSpPr txBox="1"/>
          <p:nvPr/>
        </p:nvSpPr>
        <p:spPr>
          <a:xfrm>
            <a:off x="822960" y="2834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IBM Granite 4.0 350M, run with llama.cpp on s390x</a:t>
            </a:r>
            <a:endParaRPr lang="en-US" sz="1400" dirty="0"/>
          </a:p>
        </p:txBody>
      </p:sp>
      <p:sp>
        <p:nvSpPr>
          <p:cNvPr id="8" name="b216"/>
          <p:cNvSpPr/>
          <p:nvPr/>
        </p:nvSpPr>
        <p:spPr>
          <a:xfrm>
            <a:off x="4297680" y="1783080"/>
            <a:ext cx="35661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217"/>
          <p:cNvSpPr txBox="1"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to 7 s</a:t>
            </a:r>
            <a:endParaRPr lang="en-US" sz="3400" dirty="0"/>
          </a:p>
        </p:txBody>
      </p:sp>
      <p:sp>
        <p:nvSpPr>
          <p:cNvPr id="10" name="t218"/>
          <p:cNvSpPr txBox="1"/>
          <p:nvPr/>
        </p:nvSpPr>
        <p:spPr>
          <a:xfrm>
            <a:off x="4572000" y="2834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 explanation; model load takes about 1 to 2.6 s</a:t>
            </a:r>
            <a:endParaRPr lang="en-US" sz="1400" dirty="0"/>
          </a:p>
        </p:txBody>
      </p:sp>
      <p:sp>
        <p:nvSpPr>
          <p:cNvPr id="11" name="b219"/>
          <p:cNvSpPr/>
          <p:nvPr/>
        </p:nvSpPr>
        <p:spPr>
          <a:xfrm>
            <a:off x="8046720" y="1783080"/>
            <a:ext cx="35661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220"/>
          <p:cNvSpPr txBox="1"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of 3</a:t>
            </a:r>
            <a:endParaRPr lang="en-US" sz="3400" dirty="0"/>
          </a:p>
        </p:txBody>
      </p:sp>
      <p:sp>
        <p:nvSpPr>
          <p:cNvPr id="13" name="t221"/>
          <p:cNvSpPr txBox="1"/>
          <p:nvPr/>
        </p:nvSpPr>
        <p:spPr>
          <a:xfrm>
            <a:off x="8321040" y="2834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explanations withheld by the faithfulness check in our run</a:t>
            </a:r>
            <a:endParaRPr lang="en-US" sz="1400" dirty="0"/>
          </a:p>
        </p:txBody>
      </p:sp>
      <p:sp>
        <p:nvSpPr>
          <p:cNvPr id="14" name="b222"/>
          <p:cNvSpPr/>
          <p:nvPr/>
        </p:nvSpPr>
        <p:spPr>
          <a:xfrm>
            <a:off x="548640" y="4389120"/>
            <a:ext cx="11091672" cy="1554480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5" name="t223"/>
          <p:cNvSpPr txBox="1"/>
          <p:nvPr/>
        </p:nvSpPr>
        <p:spPr>
          <a:xfrm>
            <a:off x="822960" y="43891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Granite runs on the </a:t>
            </a:r>
            <a:r>
              <a:rPr lang="en-US" sz="17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host side</a:t>
            </a:r>
            <a:r>
              <a:rPr lang="en-US" sz="17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</a:t>
            </a:r>
            <a:r>
              <a:rPr lang="en-US" sz="17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sees the image</a:t>
            </a:r>
            <a:r>
              <a:rPr lang="en-US" sz="17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A faithfulness check decides whether each explanation is shown or withheld.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 our IBM z17 the models and crypto ran for real, while host isolation is simulated</a:t>
            </a:r>
            <a:endParaRPr lang="en-US" sz="2400" dirty="0"/>
          </a:p>
        </p:txBody>
      </p:sp>
      <p:sp>
        <p:nvSpPr>
          <p:cNvPr id="3" name="t224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</a:t>
            </a:r>
            <a:endParaRPr lang="en-US" sz="1700" dirty="0"/>
          </a:p>
        </p:txBody>
      </p:sp>
      <p:sp>
        <p:nvSpPr>
          <p:cNvPr id="5" name="b225"/>
          <p:cNvSpPr/>
          <p:nvPr/>
        </p:nvSpPr>
        <p:spPr>
          <a:xfrm>
            <a:off x="548640" y="1783080"/>
            <a:ext cx="5440680" cy="35204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226"/>
          <p:cNvSpPr txBox="1"/>
          <p:nvPr/>
        </p:nvSpPr>
        <p:spPr>
          <a:xfrm>
            <a:off x="82296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RAN FOR REAL</a:t>
            </a:r>
            <a:endParaRPr lang="en-US" sz="1100" dirty="0"/>
          </a:p>
        </p:txBody>
      </p:sp>
      <p:sp>
        <p:nvSpPr>
          <p:cNvPr id="7" name="l227"/>
          <p:cNvSpPr txBox="1"/>
          <p:nvPr/>
        </p:nvSpPr>
        <p:spPr>
          <a:xfrm>
            <a:off x="822960" y="246888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z17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(machine type 9175), 3 vCPUs, about 7.3 GB RAM</a:t>
            </a:r>
            <a:endParaRPr lang="en-US" sz="15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RHEL 10.2, s390x big-endian, </a:t>
            </a: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NNPA (Telum)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present</a:t>
            </a:r>
            <a:endParaRPr lang="en-US" sz="15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CPU inference; AES-GCM, Ed25519, X25519 via PyCryptodome</a:t>
            </a:r>
            <a:endParaRPr lang="en-US" sz="15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Telum via </a:t>
            </a:r>
            <a:r>
              <a:rPr lang="en-US" sz="15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ibm-zdnn-plugin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Granite via llama.cpp</a:t>
            </a:r>
            <a:endParaRPr lang="en-US" sz="1500" dirty="0"/>
          </a:p>
        </p:txBody>
      </p:sp>
      <p:sp>
        <p:nvSpPr>
          <p:cNvPr id="8" name="b228"/>
          <p:cNvSpPr/>
          <p:nvPr/>
        </p:nvSpPr>
        <p:spPr>
          <a:xfrm>
            <a:off x="6199632" y="1783080"/>
            <a:ext cx="5440680" cy="3520440"/>
          </a:xfrm>
          <a:prstGeom prst="rect">
            <a:avLst/>
          </a:prstGeom>
          <a:solidFill>
            <a:srgbClr val="FCF4D6"/>
          </a:solidFill>
          <a:ln w="12700">
            <a:solidFill>
              <a:srgbClr val="FCF4D6"/>
            </a:solidFill>
            <a:prstDash val="solid"/>
          </a:ln>
        </p:spPr>
      </p:sp>
      <p:sp>
        <p:nvSpPr>
          <p:cNvPr id="9" name="t229"/>
          <p:cNvSpPr txBox="1"/>
          <p:nvPr/>
        </p:nvSpPr>
        <p:spPr>
          <a:xfrm>
            <a:off x="6473952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NOT ON OUR SERVER</a:t>
            </a:r>
            <a:endParaRPr lang="en-US" sz="1100" dirty="0"/>
          </a:p>
        </p:txBody>
      </p:sp>
      <p:sp>
        <p:nvSpPr>
          <p:cNvPr id="10" name="l230"/>
          <p:cNvSpPr txBox="1"/>
          <p:nvPr/>
        </p:nvSpPr>
        <p:spPr>
          <a:xfrm>
            <a:off x="6473952" y="246888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Execution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simulated and labelled</a:t>
            </a:r>
            <a:endParaRPr lang="en-US" sz="15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Crypto Express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any CPACF claim</a:t>
            </a:r>
            <a:endParaRPr lang="en-US" sz="15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Podman</a:t>
            </a:r>
            <a:r>
              <a:rPr lang="en-US" sz="15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Containerfiles written, not run</a:t>
            </a:r>
            <a:endParaRPr lang="en-US" sz="1500" dirty="0"/>
          </a:p>
        </p:txBody>
      </p:sp>
      <p:sp>
        <p:nvSpPr>
          <p:cNvPr id="11" name="b231"/>
          <p:cNvSpPr/>
          <p:nvPr/>
        </p:nvSpPr>
        <p:spPr>
          <a:xfrm>
            <a:off x="548640" y="5486400"/>
            <a:ext cx="11091672" cy="5943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232"/>
          <p:cNvSpPr txBox="1"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shape:</a:t>
            </a: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Secure Execution guest + Trustee attestation + Crypto Express KEK + Telum inference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we did not prove is written on every screen, not hidden in an appendix</a:t>
            </a:r>
            <a:endParaRPr lang="en-US" sz="2400" dirty="0"/>
          </a:p>
        </p:txBody>
      </p:sp>
      <p:sp>
        <p:nvSpPr>
          <p:cNvPr id="3" name="t233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LIMITS</a:t>
            </a:r>
            <a:endParaRPr lang="en-US" sz="1700" dirty="0"/>
          </a:p>
        </p:txBody>
      </p:sp>
      <p:sp>
        <p:nvSpPr>
          <p:cNvPr id="4" name="sim234"/>
          <p:cNvSpPr/>
          <p:nvPr/>
        </p:nvSpPr>
        <p:spPr>
          <a:xfrm>
            <a:off x="10241280" y="237744"/>
            <a:ext cx="1399032" cy="310896"/>
          </a:xfrm>
          <a:prstGeom prst="roundRect">
            <a:avLst>
              <a:gd name="adj" fmla="val 23529"/>
            </a:avLst>
          </a:prstGeom>
          <a:solidFill>
            <a:srgbClr val="FCF4D6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chemeClr val="accent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6" name="b235"/>
          <p:cNvSpPr/>
          <p:nvPr/>
        </p:nvSpPr>
        <p:spPr>
          <a:xfrm>
            <a:off x="548640" y="1783080"/>
            <a:ext cx="704088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236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237"/>
          <p:cNvSpPr txBox="1"/>
          <p:nvPr/>
        </p:nvSpPr>
        <p:spPr>
          <a:xfrm>
            <a:off x="1417320" y="17830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Secure Execution</a:t>
            </a: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our server: host exclusion is simulated and labelled</a:t>
            </a:r>
            <a:endParaRPr lang="en-US" sz="1300" dirty="0"/>
          </a:p>
        </p:txBody>
      </p:sp>
      <p:sp>
        <p:nvSpPr>
          <p:cNvPr id="9" name="b238"/>
          <p:cNvSpPr/>
          <p:nvPr/>
        </p:nvSpPr>
        <p:spPr>
          <a:xfrm>
            <a:off x="548640" y="2651760"/>
            <a:ext cx="704088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239"/>
          <p:cNvSpPr/>
          <p:nvPr/>
        </p:nvSpPr>
        <p:spPr>
          <a:xfrm>
            <a:off x="731520" y="2807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240"/>
          <p:cNvSpPr txBox="1"/>
          <p:nvPr/>
        </p:nvSpPr>
        <p:spPr>
          <a:xfrm>
            <a:off x="1417320" y="26517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Attestation is </a:t>
            </a:r>
            <a:r>
              <a:rPr lang="en-US" sz="13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self-reported</a:t>
            </a: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here; real IBM Z signs it with the Ultravisor</a:t>
            </a:r>
            <a:endParaRPr lang="en-US" sz="1300" dirty="0"/>
          </a:p>
        </p:txBody>
      </p:sp>
      <p:sp>
        <p:nvSpPr>
          <p:cNvPr id="12" name="b241"/>
          <p:cNvSpPr/>
          <p:nvPr/>
        </p:nvSpPr>
        <p:spPr>
          <a:xfrm>
            <a:off x="548640" y="3520440"/>
            <a:ext cx="704088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242"/>
          <p:cNvSpPr/>
          <p:nvPr/>
        </p:nvSpPr>
        <p:spPr>
          <a:xfrm>
            <a:off x="731520" y="3675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243"/>
          <p:cNvSpPr txBox="1"/>
          <p:nvPr/>
        </p:nvSpPr>
        <p:spPr>
          <a:xfrm>
            <a:off x="1417320" y="35204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key is a chmod-600 file, not an HSM; no CPACF claim; guest runs on CPU</a:t>
            </a:r>
            <a:endParaRPr lang="en-US" sz="1300" dirty="0"/>
          </a:p>
        </p:txBody>
      </p:sp>
      <p:sp>
        <p:nvSpPr>
          <p:cNvPr id="15" name="b244"/>
          <p:cNvSpPr/>
          <p:nvPr/>
        </p:nvSpPr>
        <p:spPr>
          <a:xfrm>
            <a:off x="548640" y="4389120"/>
            <a:ext cx="704088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245"/>
          <p:cNvSpPr/>
          <p:nvPr/>
        </p:nvSpPr>
        <p:spPr>
          <a:xfrm>
            <a:off x="731520" y="4544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246"/>
          <p:cNvSpPr txBox="1"/>
          <p:nvPr/>
        </p:nvSpPr>
        <p:spPr>
          <a:xfrm>
            <a:off x="1417320" y="43891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cannot guarantee no image copy remains; </a:t>
            </a:r>
            <a:r>
              <a:rPr lang="en-US" sz="1300" i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side channels are out of scope</a:t>
            </a:r>
            <a:endParaRPr lang="en-US" sz="1300" dirty="0"/>
          </a:p>
        </p:txBody>
      </p:sp>
      <p:sp>
        <p:nvSpPr>
          <p:cNvPr id="18" name="b247"/>
          <p:cNvSpPr/>
          <p:nvPr/>
        </p:nvSpPr>
        <p:spPr>
          <a:xfrm>
            <a:off x="548640" y="5257800"/>
            <a:ext cx="704088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248"/>
          <p:cNvSpPr/>
          <p:nvPr/>
        </p:nvSpPr>
        <p:spPr>
          <a:xfrm>
            <a:off x="731520" y="5413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249"/>
          <p:cNvSpPr txBox="1"/>
          <p:nvPr/>
        </p:nvSpPr>
        <p:spPr>
          <a:xfrm>
            <a:off x="1417320" y="52578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Accuracy inherits a </a:t>
            </a:r>
            <a:r>
              <a:rPr lang="en-US" sz="13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pre-training overlap</a:t>
            </a: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RSNA</a:t>
            </a:r>
            <a:endParaRPr lang="en-US" sz="1300" dirty="0"/>
          </a:p>
        </p:txBody>
      </p:sp>
      <p:sp>
        <p:nvSpPr>
          <p:cNvPr id="21" name="b250"/>
          <p:cNvSpPr/>
          <p:nvPr/>
        </p:nvSpPr>
        <p:spPr>
          <a:xfrm>
            <a:off x="7955280" y="1783080"/>
            <a:ext cx="3685032" cy="4251960"/>
          </a:xfrm>
          <a:prstGeom prst="rect">
            <a:avLst/>
          </a:prstGeom>
          <a:solidFill>
            <a:schemeClr val="bg2"/>
          </a:solidFill>
          <a:ln w="12700">
            <a:solidFill>
              <a:srgbClr val="8D8D8D"/>
            </a:solidFill>
            <a:prstDash val="dash"/>
          </a:ln>
        </p:spPr>
      </p:sp>
      <p:sp>
        <p:nvSpPr>
          <p:cNvPr id="22" name="t251"/>
          <p:cNvSpPr txBox="1"/>
          <p:nvPr/>
        </p:nvSpPr>
        <p:spPr>
          <a:xfrm>
            <a:off x="8229600" y="1783080"/>
            <a:ext cx="313639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kern="0" spc="200" dirty="0">
                <a:solidFill>
                  <a:schemeClr val="tx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 PLACEHOLDER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Honesty slide visual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tx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film_frame_160s.jpg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F80BB68-A693-CD8A-83FF-DDBEB01C2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783079"/>
            <a:ext cx="3691890" cy="42598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Scans stay protected while the AI runs, which helps six groups at once</a:t>
            </a:r>
            <a:endParaRPr lang="en-US" sz="2400" dirty="0"/>
          </a:p>
        </p:txBody>
      </p:sp>
      <p:sp>
        <p:nvSpPr>
          <p:cNvPr id="3" name="t252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</a:t>
            </a:r>
            <a:endParaRPr lang="en-US" sz="1700" dirty="0"/>
          </a:p>
        </p:txBody>
      </p:sp>
      <p:sp>
        <p:nvSpPr>
          <p:cNvPr id="5" name="b253"/>
          <p:cNvSpPr/>
          <p:nvPr/>
        </p:nvSpPr>
        <p:spPr>
          <a:xfrm>
            <a:off x="548640" y="178308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25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255"/>
          <p:cNvSpPr txBox="1"/>
          <p:nvPr/>
        </p:nvSpPr>
        <p:spPr>
          <a:xfrm>
            <a:off x="15087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Hospitals</a:t>
            </a:r>
            <a:endParaRPr lang="en-US" sz="1500" dirty="0"/>
          </a:p>
        </p:txBody>
      </p:sp>
      <p:sp>
        <p:nvSpPr>
          <p:cNvPr id="8" name="t256"/>
          <p:cNvSpPr txBox="1"/>
          <p:nvPr/>
        </p:nvSpPr>
        <p:spPr>
          <a:xfrm>
            <a:off x="82296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Can use outside AI at all</a:t>
            </a:r>
            <a:endParaRPr lang="en-US" sz="1500" dirty="0"/>
          </a:p>
        </p:txBody>
      </p:sp>
      <p:sp>
        <p:nvSpPr>
          <p:cNvPr id="9" name="b257"/>
          <p:cNvSpPr/>
          <p:nvPr/>
        </p:nvSpPr>
        <p:spPr>
          <a:xfrm>
            <a:off x="4297680" y="178308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258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259"/>
          <p:cNvSpPr txBox="1"/>
          <p:nvPr/>
        </p:nvSpPr>
        <p:spPr>
          <a:xfrm>
            <a:off x="525780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Radiologists</a:t>
            </a:r>
            <a:endParaRPr lang="en-US" sz="1500" dirty="0"/>
          </a:p>
        </p:txBody>
      </p:sp>
      <p:sp>
        <p:nvSpPr>
          <p:cNvPr id="12" name="t260"/>
          <p:cNvSpPr txBox="1"/>
          <p:nvPr/>
        </p:nvSpPr>
        <p:spPr>
          <a:xfrm>
            <a:off x="457200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score plus proof of which model made it</a:t>
            </a:r>
            <a:endParaRPr lang="en-US" sz="1500" dirty="0"/>
          </a:p>
        </p:txBody>
      </p:sp>
      <p:sp>
        <p:nvSpPr>
          <p:cNvPr id="13" name="b261"/>
          <p:cNvSpPr/>
          <p:nvPr/>
        </p:nvSpPr>
        <p:spPr>
          <a:xfrm>
            <a:off x="8046720" y="178308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262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263"/>
          <p:cNvSpPr txBox="1"/>
          <p:nvPr/>
        </p:nvSpPr>
        <p:spPr>
          <a:xfrm>
            <a:off x="90068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1500" dirty="0"/>
          </a:p>
        </p:txBody>
      </p:sp>
      <p:sp>
        <p:nvSpPr>
          <p:cNvPr id="16" name="t264"/>
          <p:cNvSpPr txBox="1"/>
          <p:nvPr/>
        </p:nvSpPr>
        <p:spPr>
          <a:xfrm>
            <a:off x="832104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Protected in use, not only at rest</a:t>
            </a:r>
            <a:endParaRPr lang="en-US" sz="1500" dirty="0"/>
          </a:p>
        </p:txBody>
      </p:sp>
      <p:sp>
        <p:nvSpPr>
          <p:cNvPr id="17" name="b265"/>
          <p:cNvSpPr/>
          <p:nvPr/>
        </p:nvSpPr>
        <p:spPr>
          <a:xfrm>
            <a:off x="548640" y="379476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d266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267"/>
          <p:cNvSpPr txBox="1"/>
          <p:nvPr/>
        </p:nvSpPr>
        <p:spPr>
          <a:xfrm>
            <a:off x="150876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security</a:t>
            </a:r>
            <a:endParaRPr lang="en-US" sz="1500" dirty="0"/>
          </a:p>
        </p:txBody>
      </p:sp>
      <p:sp>
        <p:nvSpPr>
          <p:cNvPr id="20" name="t268"/>
          <p:cNvSpPr txBox="1"/>
          <p:nvPr/>
        </p:nvSpPr>
        <p:spPr>
          <a:xfrm>
            <a:off x="822960" y="4800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Reviewable logs and rerunnable tests</a:t>
            </a:r>
            <a:endParaRPr lang="en-US" sz="1500" dirty="0"/>
          </a:p>
        </p:txBody>
      </p:sp>
      <p:sp>
        <p:nvSpPr>
          <p:cNvPr id="21" name="b269"/>
          <p:cNvSpPr/>
          <p:nvPr/>
        </p:nvSpPr>
        <p:spPr>
          <a:xfrm>
            <a:off x="4297680" y="379476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d270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271"/>
          <p:cNvSpPr txBox="1"/>
          <p:nvPr/>
        </p:nvSpPr>
        <p:spPr>
          <a:xfrm>
            <a:off x="525780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developers</a:t>
            </a:r>
            <a:endParaRPr lang="en-US" sz="1500" dirty="0"/>
          </a:p>
        </p:txBody>
      </p:sp>
      <p:sp>
        <p:nvSpPr>
          <p:cNvPr id="24" name="t272"/>
          <p:cNvSpPr txBox="1"/>
          <p:nvPr/>
        </p:nvSpPr>
        <p:spPr>
          <a:xfrm>
            <a:off x="4572000" y="4800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Deploy without seeing the data</a:t>
            </a:r>
            <a:endParaRPr lang="en-US" sz="1500" dirty="0"/>
          </a:p>
        </p:txBody>
      </p:sp>
      <p:sp>
        <p:nvSpPr>
          <p:cNvPr id="25" name="b273"/>
          <p:cNvSpPr/>
          <p:nvPr/>
        </p:nvSpPr>
        <p:spPr>
          <a:xfrm>
            <a:off x="8046720" y="379476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d274"/>
          <p:cNvSpPr/>
          <p:nvPr/>
        </p:nvSpPr>
        <p:spPr>
          <a:xfrm>
            <a:off x="8321040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275"/>
          <p:cNvSpPr txBox="1"/>
          <p:nvPr/>
        </p:nvSpPr>
        <p:spPr>
          <a:xfrm>
            <a:off x="900684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Regulators</a:t>
            </a:r>
            <a:endParaRPr lang="en-US" sz="1500" dirty="0"/>
          </a:p>
        </p:txBody>
      </p:sp>
      <p:sp>
        <p:nvSpPr>
          <p:cNvPr id="28" name="t276"/>
          <p:cNvSpPr txBox="1"/>
          <p:nvPr/>
        </p:nvSpPr>
        <p:spPr>
          <a:xfrm>
            <a:off x="8321040" y="4800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concrete privacy-preserving pattern</a:t>
            </a:r>
            <a:endParaRPr lang="en-US" sz="1500" dirty="0"/>
          </a:p>
        </p:txBody>
      </p:sp>
      <p:sp>
        <p:nvSpPr>
          <p:cNvPr id="29" name="t277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same design carries to </a:t>
            </a:r>
            <a:r>
              <a:rPr lang="en-US" sz="1300" b="1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CT, MRI, and any hash-approved model</a:t>
            </a:r>
            <a:r>
              <a:rPr lang="en-US" sz="1300" dirty="0">
                <a:solidFill>
                  <a:schemeClr val="accent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Six steps take this prototype from simulation to real Secure Execution</a:t>
            </a:r>
            <a:endParaRPr lang="en-US" sz="2400" dirty="0"/>
          </a:p>
        </p:txBody>
      </p:sp>
      <p:sp>
        <p:nvSpPr>
          <p:cNvPr id="3" name="t278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5" name="b279"/>
          <p:cNvSpPr/>
          <p:nvPr/>
        </p:nvSpPr>
        <p:spPr>
          <a:xfrm>
            <a:off x="548640" y="1783080"/>
            <a:ext cx="356616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280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281"/>
          <p:cNvSpPr txBox="1"/>
          <p:nvPr/>
        </p:nvSpPr>
        <p:spPr>
          <a:xfrm>
            <a:off x="82296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the guest as an IBM </a:t>
            </a: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Execution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guest with pvattest + Trustee</a:t>
            </a:r>
            <a:endParaRPr lang="en-US" sz="1400" dirty="0"/>
          </a:p>
        </p:txBody>
      </p:sp>
      <p:sp>
        <p:nvSpPr>
          <p:cNvPr id="8" name="b282"/>
          <p:cNvSpPr/>
          <p:nvPr/>
        </p:nvSpPr>
        <p:spPr>
          <a:xfrm>
            <a:off x="4297680" y="1783080"/>
            <a:ext cx="356616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283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284"/>
          <p:cNvSpPr txBox="1"/>
          <p:nvPr/>
        </p:nvSpPr>
        <p:spPr>
          <a:xfrm>
            <a:off x="457200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 the KEK to </a:t>
            </a: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Crypto Express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use CPACF protected keys</a:t>
            </a:r>
            <a:endParaRPr lang="en-US" sz="1400" dirty="0"/>
          </a:p>
        </p:txBody>
      </p:sp>
      <p:sp>
        <p:nvSpPr>
          <p:cNvPr id="11" name="b285"/>
          <p:cNvSpPr/>
          <p:nvPr/>
        </p:nvSpPr>
        <p:spPr>
          <a:xfrm>
            <a:off x="8046720" y="1783080"/>
            <a:ext cx="356616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286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287"/>
          <p:cNvSpPr txBox="1"/>
          <p:nvPr/>
        </p:nvSpPr>
        <p:spPr>
          <a:xfrm>
            <a:off x="832104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the secure guest on the </a:t>
            </a: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Telum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path; list offloaded operators</a:t>
            </a:r>
            <a:endParaRPr lang="en-US" sz="1400" dirty="0"/>
          </a:p>
        </p:txBody>
      </p:sp>
      <p:sp>
        <p:nvSpPr>
          <p:cNvPr id="14" name="b288"/>
          <p:cNvSpPr/>
          <p:nvPr/>
        </p:nvSpPr>
        <p:spPr>
          <a:xfrm>
            <a:off x="548640" y="3931920"/>
            <a:ext cx="356616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289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290"/>
          <p:cNvSpPr txBox="1"/>
          <p:nvPr/>
        </p:nvSpPr>
        <p:spPr>
          <a:xfrm>
            <a:off x="82296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a long-running attested guest per session to cut latency</a:t>
            </a:r>
            <a:endParaRPr lang="en-US" sz="1400" dirty="0"/>
          </a:p>
        </p:txBody>
      </p:sp>
      <p:sp>
        <p:nvSpPr>
          <p:cNvPr id="17" name="b291"/>
          <p:cNvSpPr/>
          <p:nvPr/>
        </p:nvSpPr>
        <p:spPr>
          <a:xfrm>
            <a:off x="4297680" y="3931920"/>
            <a:ext cx="356616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d292"/>
          <p:cNvSpPr/>
          <p:nvPr/>
        </p:nvSpPr>
        <p:spPr>
          <a:xfrm>
            <a:off x="457200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293"/>
          <p:cNvSpPr txBox="1"/>
          <p:nvPr/>
        </p:nvSpPr>
        <p:spPr>
          <a:xfrm>
            <a:off x="457200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a clean </a:t>
            </a:r>
            <a:r>
              <a:rPr lang="en-US" sz="14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accuracy control</a:t>
            </a: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external validation</a:t>
            </a:r>
            <a:endParaRPr lang="en-US" sz="1400" dirty="0"/>
          </a:p>
        </p:txBody>
      </p:sp>
      <p:sp>
        <p:nvSpPr>
          <p:cNvPr id="20" name="b294"/>
          <p:cNvSpPr/>
          <p:nvPr/>
        </p:nvSpPr>
        <p:spPr>
          <a:xfrm>
            <a:off x="8046720" y="3931920"/>
            <a:ext cx="356616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d295"/>
          <p:cNvSpPr/>
          <p:nvPr/>
        </p:nvSpPr>
        <p:spPr>
          <a:xfrm>
            <a:off x="832104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296"/>
          <p:cNvSpPr txBox="1"/>
          <p:nvPr/>
        </p:nvSpPr>
        <p:spPr>
          <a:xfrm>
            <a:off x="832104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Enforce network policy inside the Secure Execution image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image is readable in one place, and we can prove which code saw it</a:t>
            </a:r>
            <a:endParaRPr lang="en-US" sz="3600" dirty="0"/>
          </a:p>
        </p:txBody>
      </p:sp>
      <p:sp>
        <p:nvSpPr>
          <p:cNvPr id="3" name="t297"/>
          <p:cNvSpPr txBox="1"/>
          <p:nvPr/>
        </p:nvSpPr>
        <p:spPr>
          <a:xfrm>
            <a:off x="54864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11</a:t>
            </a:r>
            <a:endParaRPr lang="en-US" sz="3000" dirty="0"/>
          </a:p>
        </p:txBody>
      </p:sp>
      <p:sp>
        <p:nvSpPr>
          <p:cNvPr id="4" name="t298"/>
          <p:cNvSpPr txBox="1"/>
          <p:nvPr/>
        </p:nvSpPr>
        <p:spPr>
          <a:xfrm>
            <a:off x="54864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attacks refused</a:t>
            </a:r>
            <a:endParaRPr lang="en-US" sz="1300" dirty="0"/>
          </a:p>
        </p:txBody>
      </p:sp>
      <p:sp>
        <p:nvSpPr>
          <p:cNvPr id="5" name="t299"/>
          <p:cNvSpPr txBox="1"/>
          <p:nvPr/>
        </p:nvSpPr>
        <p:spPr>
          <a:xfrm>
            <a:off x="429768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Δ 0.0000</a:t>
            </a:r>
            <a:endParaRPr lang="en-US" sz="3000" dirty="0"/>
          </a:p>
        </p:txBody>
      </p:sp>
      <p:sp>
        <p:nvSpPr>
          <p:cNvPr id="6" name="t300"/>
          <p:cNvSpPr txBox="1"/>
          <p:nvPr/>
        </p:nvSpPr>
        <p:spPr>
          <a:xfrm>
            <a:off x="429768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secure vs plain score</a:t>
            </a:r>
            <a:endParaRPr lang="en-US" sz="1300" dirty="0"/>
          </a:p>
        </p:txBody>
      </p:sp>
      <p:sp>
        <p:nvSpPr>
          <p:cNvPr id="7" name="t301"/>
          <p:cNvSpPr txBox="1"/>
          <p:nvPr/>
        </p:nvSpPr>
        <p:spPr>
          <a:xfrm>
            <a:off x="804672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ms</a:t>
            </a:r>
            <a:endParaRPr lang="en-US" sz="3000" dirty="0"/>
          </a:p>
        </p:txBody>
      </p:sp>
      <p:sp>
        <p:nvSpPr>
          <p:cNvPr id="8" name="t302"/>
          <p:cNvSpPr txBox="1"/>
          <p:nvPr/>
        </p:nvSpPr>
        <p:spPr>
          <a:xfrm>
            <a:off x="804672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 overhead</a:t>
            </a:r>
            <a:endParaRPr lang="en-US" sz="1300" dirty="0"/>
          </a:p>
        </p:txBody>
      </p:sp>
      <p:sp>
        <p:nvSpPr>
          <p:cNvPr id="9" name="b303"/>
          <p:cNvSpPr/>
          <p:nvPr/>
        </p:nvSpPr>
        <p:spPr>
          <a:xfrm>
            <a:off x="548640" y="5029200"/>
            <a:ext cx="128016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304"/>
          <p:cNvSpPr txBox="1"/>
          <p:nvPr/>
        </p:nvSpPr>
        <p:spPr>
          <a:xfrm>
            <a:off x="54864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Team Revolution</a:t>
            </a:r>
            <a:endParaRPr lang="en-US" sz="1500" dirty="0"/>
          </a:p>
        </p:txBody>
      </p:sp>
      <p:sp>
        <p:nvSpPr>
          <p:cNvPr id="11" name="t305"/>
          <p:cNvSpPr txBox="1"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Anish Mall (Team Leader)  ·  Sourav Kumar  ·  Aashi Soni  ·  Ayush Kesarwani  ·  Gobinath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Every number in this deck traces to a notebook section and a code file</a:t>
            </a:r>
            <a:endParaRPr lang="en-US" sz="2400" dirty="0"/>
          </a:p>
        </p:txBody>
      </p:sp>
      <p:sp>
        <p:nvSpPr>
          <p:cNvPr id="3" name="t306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BACKUP A  REPRODUCIBILITY</a:t>
            </a:r>
            <a:endParaRPr lang="en-US" sz="1700" dirty="0"/>
          </a:p>
        </p:txBody>
      </p:sp>
      <p:graphicFrame>
        <p:nvGraphicFramePr>
          <p:cNvPr id="26" name="tbl3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069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Section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What it covers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Code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§0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Platform check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deploy/</a:t>
                      </a:r>
                      <a:endParaRPr lang="en-US" sz="130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§1 to §3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Pipeline, encryption, attestation, key broker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crai/pipeline.py, crypto.py, attestation.py, broker.py</a:t>
                      </a:r>
                      <a:endParaRPr lang="en-US" sz="130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§2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 and calibrated head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crai/model.py, train.py</a:t>
                      </a:r>
                      <a:endParaRPr lang="en-US" sz="130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§4, §4b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Output guard, audit log, Granite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crai/guard.py, audit.py</a:t>
                      </a:r>
                      <a:endParaRPr lang="en-US" sz="130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§5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Eleven security tests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crai/security_tests.py</a:t>
                      </a:r>
                      <a:endParaRPr lang="en-US" sz="130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§6, §6b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Demo UI, secure vs plain, Telum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crai/ui.py</a:t>
                      </a:r>
                      <a:endParaRPr lang="en-US" sz="130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§7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RSNA data and split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crai/data.py</a:t>
                      </a:r>
                      <a:endParaRPr lang="en-US" sz="130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Each study has its own key, and the key is wrapped to one verified guest</a:t>
            </a:r>
            <a:endParaRPr lang="en-US" sz="2400" dirty="0"/>
          </a:p>
        </p:txBody>
      </p:sp>
      <p:sp>
        <p:nvSpPr>
          <p:cNvPr id="3" name="t308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BACKUP B  CRYPTOGRAPHY</a:t>
            </a:r>
            <a:endParaRPr lang="en-US" sz="1700" dirty="0"/>
          </a:p>
        </p:txBody>
      </p:sp>
      <p:sp>
        <p:nvSpPr>
          <p:cNvPr id="5" name="b309"/>
          <p:cNvSpPr/>
          <p:nvPr/>
        </p:nvSpPr>
        <p:spPr>
          <a:xfrm>
            <a:off x="548640" y="1783080"/>
            <a:ext cx="544068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310"/>
          <p:cNvSpPr txBox="1"/>
          <p:nvPr/>
        </p:nvSpPr>
        <p:spPr>
          <a:xfrm>
            <a:off x="82296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AT REST</a:t>
            </a:r>
            <a:endParaRPr lang="en-US" sz="1100" dirty="0"/>
          </a:p>
        </p:txBody>
      </p:sp>
      <p:sp>
        <p:nvSpPr>
          <p:cNvPr id="7" name="l311"/>
          <p:cNvSpPr txBox="1"/>
          <p:nvPr/>
        </p:nvSpPr>
        <p:spPr>
          <a:xfrm>
            <a:off x="822960" y="25146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AES-256-GCM</a:t>
            </a: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fresh data key per study</a:t>
            </a:r>
            <a:endParaRPr lang="en-US" sz="1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Study id bound as </a:t>
            </a: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AAD</a:t>
            </a:r>
            <a:endParaRPr lang="en-US" sz="1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key wrapped under the broker’s KEK</a:t>
            </a:r>
            <a:endParaRPr lang="en-US" sz="1600" dirty="0"/>
          </a:p>
        </p:txBody>
      </p:sp>
      <p:sp>
        <p:nvSpPr>
          <p:cNvPr id="8" name="b312"/>
          <p:cNvSpPr/>
          <p:nvPr/>
        </p:nvSpPr>
        <p:spPr>
          <a:xfrm>
            <a:off x="6199632" y="1783080"/>
            <a:ext cx="544068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313"/>
          <p:cNvSpPr txBox="1"/>
          <p:nvPr/>
        </p:nvSpPr>
        <p:spPr>
          <a:xfrm>
            <a:off x="6473952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accent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AT KEY RELEASE</a:t>
            </a:r>
            <a:endParaRPr lang="en-US" sz="1100" dirty="0"/>
          </a:p>
        </p:txBody>
      </p:sp>
      <p:sp>
        <p:nvSpPr>
          <p:cNvPr id="10" name="l314"/>
          <p:cNvSpPr txBox="1"/>
          <p:nvPr/>
        </p:nvSpPr>
        <p:spPr>
          <a:xfrm>
            <a:off x="6473952" y="251460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Evidence: guest hash, model hash, X25519 and Ed25519 public keys, single-use nonce</a:t>
            </a:r>
            <a:endParaRPr lang="en-US" sz="1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Signed </a:t>
            </a: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s token</a:t>
            </a: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from the attestation service</a:t>
            </a:r>
            <a:endParaRPr lang="en-US" sz="1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Broker re-wraps the data key to the guest’s X25519 key (</a:t>
            </a: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HKDF</a:t>
            </a: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</a:t>
            </a:r>
            <a:endParaRPr lang="en-US" sz="1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mismatch ends in refusal with a logged reason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Four questions we expect, with answers we can defend</a:t>
            </a:r>
            <a:endParaRPr lang="en-US" sz="2400" dirty="0"/>
          </a:p>
        </p:txBody>
      </p:sp>
      <p:sp>
        <p:nvSpPr>
          <p:cNvPr id="3" name="t315"/>
          <p:cNvSpPr txBox="1"/>
          <p:nvPr/>
        </p:nvSpPr>
        <p:spPr>
          <a:xfrm>
            <a:off x="548640" y="256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BACKUP C  ANTICIPATED QUESTIONS</a:t>
            </a:r>
            <a:endParaRPr lang="en-US" sz="1700" dirty="0"/>
          </a:p>
        </p:txBody>
      </p:sp>
      <p:sp>
        <p:nvSpPr>
          <p:cNvPr id="5" name="b316"/>
          <p:cNvSpPr/>
          <p:nvPr/>
        </p:nvSpPr>
        <p:spPr>
          <a:xfrm>
            <a:off x="548640" y="1783080"/>
            <a:ext cx="544068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317"/>
          <p:cNvSpPr txBox="1"/>
          <p:nvPr/>
        </p:nvSpPr>
        <p:spPr>
          <a:xfrm>
            <a:off x="822960" y="20116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this real Secure Execution?</a:t>
            </a:r>
            <a:endParaRPr lang="en-US" sz="1500" dirty="0"/>
          </a:p>
        </p:txBody>
      </p:sp>
      <p:sp>
        <p:nvSpPr>
          <p:cNvPr id="7" name="t318"/>
          <p:cNvSpPr txBox="1"/>
          <p:nvPr/>
        </p:nvSpPr>
        <p:spPr>
          <a:xfrm>
            <a:off x="822960" y="256032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No. Host exclusion is simulated and labelled. Policy logic is the same; on real IBM Z the Ultravisor signs the measurement.</a:t>
            </a:r>
            <a:endParaRPr lang="en-US" sz="1500" dirty="0"/>
          </a:p>
        </p:txBody>
      </p:sp>
      <p:sp>
        <p:nvSpPr>
          <p:cNvPr id="8" name="b319"/>
          <p:cNvSpPr/>
          <p:nvPr/>
        </p:nvSpPr>
        <p:spPr>
          <a:xfrm>
            <a:off x="6172200" y="1783080"/>
            <a:ext cx="544068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320"/>
          <p:cNvSpPr txBox="1"/>
          <p:nvPr/>
        </p:nvSpPr>
        <p:spPr>
          <a:xfrm>
            <a:off x="6446520" y="20116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accurate is the model?</a:t>
            </a:r>
            <a:endParaRPr lang="en-US" sz="1500" dirty="0"/>
          </a:p>
        </p:txBody>
      </p:sp>
      <p:sp>
        <p:nvSpPr>
          <p:cNvPr id="10" name="t321"/>
          <p:cNvSpPr txBox="1"/>
          <p:nvPr/>
        </p:nvSpPr>
        <p:spPr>
          <a:xfrm>
            <a:off x="6446520" y="256032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Not measured yet. The backbone’s pre-training overlaps RSNA, so any number will be optimistic.</a:t>
            </a:r>
            <a:endParaRPr lang="en-US" sz="1500" dirty="0"/>
          </a:p>
        </p:txBody>
      </p:sp>
      <p:sp>
        <p:nvSpPr>
          <p:cNvPr id="11" name="b322"/>
          <p:cNvSpPr/>
          <p:nvPr/>
        </p:nvSpPr>
        <p:spPr>
          <a:xfrm>
            <a:off x="548640" y="3977640"/>
            <a:ext cx="544068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323"/>
          <p:cNvSpPr txBox="1"/>
          <p:nvPr/>
        </p:nvSpPr>
        <p:spPr>
          <a:xfrm>
            <a:off x="822960" y="4206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not homomorphic encryption?</a:t>
            </a:r>
            <a:endParaRPr lang="en-US" sz="1500" dirty="0"/>
          </a:p>
        </p:txBody>
      </p:sp>
      <p:sp>
        <p:nvSpPr>
          <p:cNvPr id="13" name="t324"/>
          <p:cNvSpPr txBox="1"/>
          <p:nvPr/>
        </p:nvSpPr>
        <p:spPr>
          <a:xfrm>
            <a:off x="822960" y="4754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Published full forward passes take about 88 to 92 s per image, against milliseconds in the clear.</a:t>
            </a:r>
            <a:endParaRPr lang="en-US" sz="1500" dirty="0"/>
          </a:p>
        </p:txBody>
      </p:sp>
      <p:sp>
        <p:nvSpPr>
          <p:cNvPr id="14" name="b325"/>
          <p:cNvSpPr/>
          <p:nvPr/>
        </p:nvSpPr>
        <p:spPr>
          <a:xfrm>
            <a:off x="6172200" y="3977640"/>
            <a:ext cx="544068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326"/>
          <p:cNvSpPr txBox="1"/>
          <p:nvPr/>
        </p:nvSpPr>
        <p:spPr>
          <a:xfrm>
            <a:off x="6446520" y="4206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does security cost?</a:t>
            </a:r>
            <a:endParaRPr lang="en-US" sz="1500" dirty="0"/>
          </a:p>
        </p:txBody>
      </p:sp>
      <p:sp>
        <p:nvSpPr>
          <p:cNvPr id="16" name="t327"/>
          <p:cNvSpPr txBox="1"/>
          <p:nvPr/>
        </p:nvSpPr>
        <p:spPr>
          <a:xfrm>
            <a:off x="6446520" y="4754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About 23 ms of a roughly 2.5 s secure request, measured on our z17.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6F6F6F"/>
                </a:solidFill>
                <a:latin typeface="Poppins Medium"/>
                <a:ea typeface="Poppins Medium"/>
                <a:cs typeface="Poppins Medium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olution Research">
  <a:themeElements>
    <a:clrScheme name="Revolution Research">
      <a:dk1>
        <a:srgbClr val="161616"/>
      </a:dk1>
      <a:lt1>
        <a:srgbClr val="FFFFFF"/>
      </a:lt1>
      <a:dk2>
        <a:srgbClr val="525252"/>
      </a:dk2>
      <a:lt2>
        <a:srgbClr val="F4F4F4"/>
      </a:lt2>
      <a:accent1>
        <a:srgbClr val="393939"/>
      </a:accent1>
      <a:accent2>
        <a:srgbClr val="262626"/>
      </a:accent2>
      <a:accent3>
        <a:srgbClr val="525252"/>
      </a:accent3>
      <a:accent4>
        <a:srgbClr val="161616"/>
      </a:accent4>
      <a:accent5>
        <a:srgbClr val="8E6A00"/>
      </a:accent5>
      <a:accent6>
        <a:srgbClr val="8D8D8D"/>
      </a:accent6>
      <a:hlink>
        <a:srgbClr val="393939"/>
      </a:hlink>
      <a:folHlink>
        <a:srgbClr val="8D8D8D"/>
      </a:folHlink>
    </a:clrScheme>
    <a:fontScheme name="Revolution Research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3091</Words>
  <Application>Microsoft Office PowerPoint</Application>
  <PresentationFormat>Widescreen</PresentationFormat>
  <Paragraphs>479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Courier New</vt:lpstr>
      <vt:lpstr>Poppins</vt:lpstr>
      <vt:lpstr>Poppins Light</vt:lpstr>
      <vt:lpstr>Poppins Medium</vt:lpstr>
      <vt:lpstr>Revolution Research</vt:lpstr>
      <vt:lpstr>Confidential Radiology AI</vt:lpstr>
      <vt:lpstr>Hospitals want AI to read chest X-rays but cannot let outside servers see the scans</vt:lpstr>
      <vt:lpstr>Scans stay encrypted on disk and in transit, but the AI needs them readable in memory</vt:lpstr>
      <vt:lpstr>Our question: can a hospital get an AI score without trusting whoever runs the server?</vt:lpstr>
      <vt:lpstr>Existing options either leave the gap open or cost far more time</vt:lpstr>
      <vt:lpstr>Our idea: the image is readable in exactly one place</vt:lpstr>
      <vt:lpstr>One study passes four checkpoints before any pixel is read</vt:lpstr>
      <vt:lpstr>Only the verified guest ever sees pixels; everyone else sees ciphertext or hashes</vt:lpstr>
      <vt:lpstr>A frozen, hash-pinned ResNet-50 means swapping the model withholds the key</vt:lpstr>
      <vt:lpstr>Patient-level splits keep evaluation honest</vt:lpstr>
      <vt:lpstr>The key is released only to a guest whose code and model match policy</vt:lpstr>
      <vt:lpstr>Only five fields leave the guest, signed, and anything extra is rejected</vt:lpstr>
      <vt:lpstr>To test the claim we attack the system eleven ways and expect a named refusal each time</vt:lpstr>
      <vt:lpstr>All eleven attacks were refused, each with a named reason</vt:lpstr>
      <vt:lpstr>A normal scan is scored in seconds while the host sees only ciphertext</vt:lpstr>
      <vt:lpstr>Add one line to the guest code and the same button is refused</vt:lpstr>
      <vt:lpstr>Security adds about 23 milliseconds to a roughly 2.5 second request</vt:lpstr>
      <vt:lpstr>Telum cuts inference time by about two to three times with almost no change in probability</vt:lpstr>
      <vt:lpstr>Granite explains results in plain language, and a faithfulness check can withhold the text</vt:lpstr>
      <vt:lpstr>On our IBM z17 the models and crypto ran for real, while host isolation is simulated</vt:lpstr>
      <vt:lpstr>What we did not prove is written on every screen, not hidden in an appendix</vt:lpstr>
      <vt:lpstr>Scans stay protected while the AI runs, which helps six groups at once</vt:lpstr>
      <vt:lpstr>Six steps take this prototype from simulation to real Secure Execution</vt:lpstr>
      <vt:lpstr>The image is readable in one place, and we can prove which code saw it</vt:lpstr>
      <vt:lpstr>Every number in this deck traces to a notebook section and a code file</vt:lpstr>
      <vt:lpstr>Each study has its own key, and the key is wrapped to one verified guest</vt:lpstr>
      <vt:lpstr>Four questions we expect, with answers we can defend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Confidential Radiology AI</dc:title>
  <dc:subject>PptxGenJS Presentation</dc:subject>
  <dc:creator>Team Revolution</dc:creator>
  <cp:lastModifiedBy>Anish Mall</cp:lastModifiedBy>
  <cp:revision>3</cp:revision>
  <dcterms:created xsi:type="dcterms:W3CDTF">2026-10-18T05:47:31Z</dcterms:created>
  <dcterms:modified xsi:type="dcterms:W3CDTF">2026-10-18T08:47:24Z</dcterms:modified>
</cp:coreProperties>
</file>